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121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6843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A"/>
        </a:solidFill>
        <a:effectLst/>
      </p:bgPr>
    </p:bg>
    <p:spTree>
      <p:nvGrpSpPr>
        <p:cNvPr id="1" name=""/>
        <p:cNvGrpSpPr/>
        <p:nvPr/>
      </p:nvGrpSpPr>
      <p:grpSpPr>
        <a:xfrm>
          <a:off x="0" y="0"/>
          <a:ext cx="0" cy="0"/>
          <a:chOff x="0" y="0"/>
          <a:chExt cx="0" cy="0"/>
        </a:xfrm>
      </p:grpSpPr>
      <p:sp>
        <p:nvSpPr>
          <p:cNvPr id="2" name="Shape 0"/>
          <p:cNvSpPr/>
          <p:nvPr/>
        </p:nvSpPr>
        <p:spPr>
          <a:xfrm>
            <a:off x="8869680" y="-2103120"/>
            <a:ext cx="6400800" cy="6400800"/>
          </a:xfrm>
          <a:prstGeom prst="ellipse">
            <a:avLst/>
          </a:prstGeom>
          <a:solidFill>
            <a:srgbClr val="13303D"/>
          </a:solidFill>
          <a:ln/>
        </p:spPr>
      </p:sp>
      <p:sp>
        <p:nvSpPr>
          <p:cNvPr id="3" name="Shape 1"/>
          <p:cNvSpPr/>
          <p:nvPr/>
        </p:nvSpPr>
        <p:spPr>
          <a:xfrm>
            <a:off x="10332720" y="-822960"/>
            <a:ext cx="3840480" cy="3840480"/>
          </a:xfrm>
          <a:prstGeom prst="ellipse">
            <a:avLst/>
          </a:prstGeom>
          <a:solidFill>
            <a:srgbClr val="028090"/>
          </a:solidFill>
          <a:ln/>
        </p:spPr>
      </p:sp>
      <p:sp>
        <p:nvSpPr>
          <p:cNvPr id="4" name="Shape 2"/>
          <p:cNvSpPr/>
          <p:nvPr/>
        </p:nvSpPr>
        <p:spPr>
          <a:xfrm>
            <a:off x="640080" y="640080"/>
            <a:ext cx="822960" cy="822960"/>
          </a:xfrm>
          <a:prstGeom prst="ellipse">
            <a:avLst/>
          </a:prstGeom>
          <a:solidFill>
            <a:srgbClr val="028090"/>
          </a:solidFill>
          <a:ln/>
        </p:spPr>
      </p:sp>
      <p:pic>
        <p:nvPicPr>
          <p:cNvPr id="5" name="Image 0" descr="/home/claude/phishing/icon_shield_white.png"/>
          <p:cNvPicPr>
            <a:picLocks noChangeAspect="1"/>
          </p:cNvPicPr>
          <p:nvPr/>
        </p:nvPicPr>
        <p:blipFill>
          <a:blip r:embed="rId3"/>
          <a:stretch>
            <a:fillRect/>
          </a:stretch>
        </p:blipFill>
        <p:spPr>
          <a:xfrm>
            <a:off x="854050" y="854050"/>
            <a:ext cx="395021" cy="395021"/>
          </a:xfrm>
          <a:prstGeom prst="rect">
            <a:avLst/>
          </a:prstGeom>
        </p:spPr>
      </p:pic>
      <p:sp>
        <p:nvSpPr>
          <p:cNvPr id="6" name="Text 3"/>
          <p:cNvSpPr/>
          <p:nvPr/>
        </p:nvSpPr>
        <p:spPr>
          <a:xfrm>
            <a:off x="640080" y="2331720"/>
            <a:ext cx="7315200" cy="365760"/>
          </a:xfrm>
          <a:prstGeom prst="rect">
            <a:avLst/>
          </a:prstGeom>
          <a:noFill/>
          <a:ln/>
        </p:spPr>
        <p:txBody>
          <a:bodyPr wrap="square" rtlCol="0" anchor="ctr"/>
          <a:lstStyle/>
          <a:p>
            <a:pPr marL="0" indent="0">
              <a:buNone/>
            </a:pPr>
            <a:r>
              <a:rPr lang="en-US" sz="1400" b="1" kern="0" spc="300" dirty="0">
                <a:solidFill>
                  <a:srgbClr val="02C39A"/>
                </a:solidFill>
                <a:latin typeface="Calibri" pitchFamily="34" charset="0"/>
                <a:ea typeface="Calibri" pitchFamily="34" charset="-122"/>
                <a:cs typeface="Calibri" pitchFamily="34" charset="-120"/>
              </a:rPr>
              <a:t>SECURITY AWARENESS TRAINING</a:t>
            </a:r>
            <a:endParaRPr lang="en-US" sz="1400" dirty="0"/>
          </a:p>
        </p:txBody>
      </p:sp>
      <p:sp>
        <p:nvSpPr>
          <p:cNvPr id="7" name="Text 4"/>
          <p:cNvSpPr/>
          <p:nvPr/>
        </p:nvSpPr>
        <p:spPr>
          <a:xfrm>
            <a:off x="594360" y="2697480"/>
            <a:ext cx="8686800" cy="118872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Don't Take the Bait</a:t>
            </a:r>
            <a:endParaRPr lang="en-US" sz="4800" dirty="0"/>
          </a:p>
        </p:txBody>
      </p:sp>
      <p:sp>
        <p:nvSpPr>
          <p:cNvPr id="8" name="Text 5"/>
          <p:cNvSpPr/>
          <p:nvPr/>
        </p:nvSpPr>
        <p:spPr>
          <a:xfrm>
            <a:off x="640080" y="3794760"/>
            <a:ext cx="7772400" cy="548640"/>
          </a:xfrm>
          <a:prstGeom prst="rect">
            <a:avLst/>
          </a:prstGeom>
          <a:noFill/>
          <a:ln/>
        </p:spPr>
        <p:txBody>
          <a:bodyPr wrap="square" rtlCol="0" anchor="ctr"/>
          <a:lstStyle/>
          <a:p>
            <a:pPr marL="0" indent="0">
              <a:buNone/>
            </a:pPr>
            <a:r>
              <a:rPr lang="en-US" sz="2000" dirty="0">
                <a:solidFill>
                  <a:srgbClr val="F6FAFA"/>
                </a:solidFill>
                <a:latin typeface="Calibri" pitchFamily="34" charset="0"/>
                <a:ea typeface="Calibri" pitchFamily="34" charset="-122"/>
                <a:cs typeface="Calibri" pitchFamily="34" charset="-120"/>
              </a:rPr>
              <a:t>Recognizing and Defeating Phishing Attacks</a:t>
            </a:r>
            <a:endParaRPr lang="en-US" sz="2000" dirty="0"/>
          </a:p>
        </p:txBody>
      </p:sp>
      <p:sp>
        <p:nvSpPr>
          <p:cNvPr id="9" name="Text 6"/>
          <p:cNvSpPr/>
          <p:nvPr/>
        </p:nvSpPr>
        <p:spPr>
          <a:xfrm>
            <a:off x="640080" y="4434840"/>
            <a:ext cx="7315200" cy="822960"/>
          </a:xfrm>
          <a:prstGeom prst="rect">
            <a:avLst/>
          </a:prstGeom>
          <a:noFill/>
          <a:ln/>
        </p:spPr>
        <p:txBody>
          <a:bodyPr wrap="square" rtlCol="0" anchor="ctr"/>
          <a:lstStyle/>
          <a:p>
            <a:pPr marL="0" indent="0">
              <a:lnSpc>
                <a:spcPct val="130000"/>
              </a:lnSpc>
              <a:buNone/>
            </a:pPr>
            <a:r>
              <a:rPr lang="en-US" sz="1300" dirty="0">
                <a:solidFill>
                  <a:srgbClr val="AFC6CC"/>
                </a:solidFill>
                <a:latin typeface="Calibri" pitchFamily="34" charset="0"/>
                <a:ea typeface="Calibri" pitchFamily="34" charset="-122"/>
                <a:cs typeface="Calibri" pitchFamily="34" charset="-120"/>
              </a:rPr>
              <a:t>A practical module on phishing emails, fake websites, and the social</a:t>
            </a:r>
            <a:endParaRPr lang="en-US" sz="1300" dirty="0"/>
          </a:p>
          <a:p>
            <a:pPr marL="0" indent="0">
              <a:lnSpc>
                <a:spcPct val="130000"/>
              </a:lnSpc>
              <a:buNone/>
            </a:pPr>
            <a:r>
              <a:rPr lang="en-US" sz="1300" dirty="0">
                <a:solidFill>
                  <a:srgbClr val="AFC6CC"/>
                </a:solidFill>
                <a:latin typeface="Calibri" pitchFamily="34" charset="0"/>
                <a:ea typeface="Calibri" pitchFamily="34" charset="-122"/>
                <a:cs typeface="Calibri" pitchFamily="34" charset="-120"/>
              </a:rPr>
              <a:t>engineering tactics attackers use to steal your credentials and data.</a:t>
            </a:r>
            <a:endParaRPr lang="en-US" sz="1300" dirty="0"/>
          </a:p>
        </p:txBody>
      </p:sp>
      <p:sp>
        <p:nvSpPr>
          <p:cNvPr id="10" name="Shape 7"/>
          <p:cNvSpPr/>
          <p:nvPr/>
        </p:nvSpPr>
        <p:spPr>
          <a:xfrm>
            <a:off x="640080" y="5989320"/>
            <a:ext cx="1280160" cy="0"/>
          </a:xfrm>
          <a:prstGeom prst="line">
            <a:avLst/>
          </a:prstGeom>
          <a:noFill/>
          <a:ln w="25400">
            <a:solidFill>
              <a:srgbClr val="02C39A"/>
            </a:solidFill>
            <a:prstDash val="solid"/>
          </a:ln>
        </p:spPr>
      </p:sp>
      <p:sp>
        <p:nvSpPr>
          <p:cNvPr id="11" name="Text 8"/>
          <p:cNvSpPr/>
          <p:nvPr/>
        </p:nvSpPr>
        <p:spPr>
          <a:xfrm>
            <a:off x="640080" y="6126480"/>
            <a:ext cx="6400800" cy="320040"/>
          </a:xfrm>
          <a:prstGeom prst="rect">
            <a:avLst/>
          </a:prstGeom>
          <a:noFill/>
          <a:ln/>
        </p:spPr>
        <p:txBody>
          <a:bodyPr wrap="square" rtlCol="0" anchor="ctr"/>
          <a:lstStyle/>
          <a:p>
            <a:pPr marL="0" indent="0">
              <a:buNone/>
            </a:pPr>
            <a:r>
              <a:rPr lang="en-US" sz="1150" dirty="0">
                <a:solidFill>
                  <a:srgbClr val="8AA0A6"/>
                </a:solidFill>
                <a:latin typeface="Calibri" pitchFamily="34" charset="0"/>
                <a:ea typeface="Calibri" pitchFamily="34" charset="-122"/>
                <a:cs typeface="Calibri" pitchFamily="34" charset="-120"/>
              </a:rPr>
              <a:t>Module length: ~25 minutes  •  Includes 3 knowledge checks</a:t>
            </a:r>
            <a:endParaRPr lang="en-US" sz="1150" dirty="0"/>
          </a:p>
        </p:txBody>
      </p:sp>
      <p:sp>
        <p:nvSpPr>
          <p:cNvPr id="12" name="Shape 9"/>
          <p:cNvSpPr/>
          <p:nvPr/>
        </p:nvSpPr>
        <p:spPr>
          <a:xfrm>
            <a:off x="8732520" y="4160520"/>
            <a:ext cx="2834640" cy="2286000"/>
          </a:xfrm>
          <a:prstGeom prst="roundRect">
            <a:avLst>
              <a:gd name="adj" fmla="val 4651"/>
            </a:avLst>
          </a:prstGeom>
          <a:solidFill>
            <a:srgbClr val="13303D"/>
          </a:solidFill>
          <a:ln w="12700">
            <a:solidFill>
              <a:srgbClr val="23414D"/>
            </a:solidFill>
            <a:prstDash val="solid"/>
          </a:ln>
        </p:spPr>
      </p:sp>
      <p:sp>
        <p:nvSpPr>
          <p:cNvPr id="13" name="Shape 10"/>
          <p:cNvSpPr/>
          <p:nvPr/>
        </p:nvSpPr>
        <p:spPr>
          <a:xfrm>
            <a:off x="8961120" y="4389120"/>
            <a:ext cx="384048" cy="384048"/>
          </a:xfrm>
          <a:prstGeom prst="ellipse">
            <a:avLst/>
          </a:prstGeom>
          <a:solidFill>
            <a:srgbClr val="028090"/>
          </a:solidFill>
          <a:ln/>
        </p:spPr>
      </p:sp>
      <p:pic>
        <p:nvPicPr>
          <p:cNvPr id="14" name="Image 1" descr="/home/claude/phishing/icon_userCheck_white.png"/>
          <p:cNvPicPr>
            <a:picLocks noChangeAspect="1"/>
          </p:cNvPicPr>
          <p:nvPr/>
        </p:nvPicPr>
        <p:blipFill>
          <a:blip r:embed="rId4"/>
          <a:stretch>
            <a:fillRect/>
          </a:stretch>
        </p:blipFill>
        <p:spPr>
          <a:xfrm>
            <a:off x="9043416" y="4471416"/>
            <a:ext cx="219456" cy="219456"/>
          </a:xfrm>
          <a:prstGeom prst="rect">
            <a:avLst/>
          </a:prstGeom>
        </p:spPr>
      </p:pic>
      <p:sp>
        <p:nvSpPr>
          <p:cNvPr id="15" name="Text 11"/>
          <p:cNvSpPr/>
          <p:nvPr/>
        </p:nvSpPr>
        <p:spPr>
          <a:xfrm>
            <a:off x="9445752" y="4425696"/>
            <a:ext cx="1920240" cy="320040"/>
          </a:xfrm>
          <a:prstGeom prst="rect">
            <a:avLst/>
          </a:prstGeom>
          <a:noFill/>
          <a:ln/>
        </p:spPr>
        <p:txBody>
          <a:bodyPr wrap="square" rtlCol="0" anchor="ctr"/>
          <a:lstStyle/>
          <a:p>
            <a:pPr marL="0" indent="0">
              <a:buNone/>
            </a:pPr>
            <a:r>
              <a:rPr lang="en-US" sz="1000" b="1" kern="0" spc="100" dirty="0">
                <a:solidFill>
                  <a:srgbClr val="02C39A"/>
                </a:solidFill>
                <a:latin typeface="Calibri" pitchFamily="34" charset="0"/>
                <a:ea typeface="Calibri" pitchFamily="34" charset="-122"/>
                <a:cs typeface="Calibri" pitchFamily="34" charset="-120"/>
              </a:rPr>
              <a:t>STUDENT INFORMATION</a:t>
            </a:r>
            <a:endParaRPr lang="en-US" sz="1000" dirty="0"/>
          </a:p>
        </p:txBody>
      </p:sp>
      <p:sp>
        <p:nvSpPr>
          <p:cNvPr id="16" name="Text 12"/>
          <p:cNvSpPr/>
          <p:nvPr/>
        </p:nvSpPr>
        <p:spPr>
          <a:xfrm>
            <a:off x="8961120" y="4873752"/>
            <a:ext cx="2377440" cy="256032"/>
          </a:xfrm>
          <a:prstGeom prst="rect">
            <a:avLst/>
          </a:prstGeom>
          <a:noFill/>
          <a:ln/>
        </p:spPr>
        <p:txBody>
          <a:bodyPr wrap="square" rtlCol="0" anchor="ctr"/>
          <a:lstStyle/>
          <a:p>
            <a:pPr marL="0" indent="0">
              <a:buNone/>
            </a:pPr>
            <a:r>
              <a:rPr lang="en-US" sz="950" dirty="0">
                <a:solidFill>
                  <a:srgbClr val="8AA0A6"/>
                </a:solidFill>
                <a:latin typeface="Calibri" pitchFamily="34" charset="0"/>
                <a:ea typeface="Calibri" pitchFamily="34" charset="-122"/>
                <a:cs typeface="Calibri" pitchFamily="34" charset="-120"/>
              </a:rPr>
              <a:t>Student Name</a:t>
            </a:r>
            <a:endParaRPr lang="en-US" sz="950" dirty="0"/>
          </a:p>
        </p:txBody>
      </p:sp>
      <p:sp>
        <p:nvSpPr>
          <p:cNvPr id="17" name="Text 13"/>
          <p:cNvSpPr/>
          <p:nvPr/>
        </p:nvSpPr>
        <p:spPr>
          <a:xfrm>
            <a:off x="8961120" y="5111496"/>
            <a:ext cx="237744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Musfira Hassan</a:t>
            </a:r>
            <a:endParaRPr lang="en-US" sz="1250" dirty="0"/>
          </a:p>
        </p:txBody>
      </p:sp>
      <p:sp>
        <p:nvSpPr>
          <p:cNvPr id="18" name="Text 14"/>
          <p:cNvSpPr/>
          <p:nvPr/>
        </p:nvSpPr>
        <p:spPr>
          <a:xfrm>
            <a:off x="8961120" y="5294376"/>
            <a:ext cx="2377440" cy="256032"/>
          </a:xfrm>
          <a:prstGeom prst="rect">
            <a:avLst/>
          </a:prstGeom>
          <a:noFill/>
          <a:ln/>
        </p:spPr>
        <p:txBody>
          <a:bodyPr wrap="square" rtlCol="0" anchor="ctr"/>
          <a:lstStyle/>
          <a:p>
            <a:pPr marL="0" indent="0">
              <a:buNone/>
            </a:pPr>
            <a:r>
              <a:rPr lang="en-US" sz="950" dirty="0">
                <a:solidFill>
                  <a:srgbClr val="8AA0A6"/>
                </a:solidFill>
                <a:latin typeface="Calibri" pitchFamily="34" charset="0"/>
                <a:ea typeface="Calibri" pitchFamily="34" charset="-122"/>
                <a:cs typeface="Calibri" pitchFamily="34" charset="-120"/>
              </a:rPr>
              <a:t>Student ID</a:t>
            </a:r>
            <a:endParaRPr lang="en-US" sz="950" dirty="0"/>
          </a:p>
        </p:txBody>
      </p:sp>
      <p:sp>
        <p:nvSpPr>
          <p:cNvPr id="19" name="Text 15"/>
          <p:cNvSpPr/>
          <p:nvPr/>
        </p:nvSpPr>
        <p:spPr>
          <a:xfrm>
            <a:off x="8961120" y="5532120"/>
            <a:ext cx="237744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CA/DF1/201508</a:t>
            </a:r>
            <a:endParaRPr lang="en-US" sz="1250" dirty="0"/>
          </a:p>
        </p:txBody>
      </p:sp>
      <p:sp>
        <p:nvSpPr>
          <p:cNvPr id="20" name="Text 16"/>
          <p:cNvSpPr/>
          <p:nvPr/>
        </p:nvSpPr>
        <p:spPr>
          <a:xfrm>
            <a:off x="8961120" y="5715000"/>
            <a:ext cx="2377440" cy="256032"/>
          </a:xfrm>
          <a:prstGeom prst="rect">
            <a:avLst/>
          </a:prstGeom>
          <a:noFill/>
          <a:ln/>
        </p:spPr>
        <p:txBody>
          <a:bodyPr wrap="square" rtlCol="0" anchor="ctr"/>
          <a:lstStyle/>
          <a:p>
            <a:pPr marL="0" indent="0">
              <a:buNone/>
            </a:pPr>
            <a:r>
              <a:rPr lang="en-US" sz="950" dirty="0">
                <a:solidFill>
                  <a:srgbClr val="8AA0A6"/>
                </a:solidFill>
                <a:latin typeface="Calibri" pitchFamily="34" charset="0"/>
                <a:ea typeface="Calibri" pitchFamily="34" charset="-122"/>
                <a:cs typeface="Calibri" pitchFamily="34" charset="-120"/>
              </a:rPr>
              <a:t>Internship Domain</a:t>
            </a:r>
            <a:endParaRPr lang="en-US" sz="950" dirty="0"/>
          </a:p>
        </p:txBody>
      </p:sp>
      <p:sp>
        <p:nvSpPr>
          <p:cNvPr id="21" name="Text 17"/>
          <p:cNvSpPr/>
          <p:nvPr/>
        </p:nvSpPr>
        <p:spPr>
          <a:xfrm>
            <a:off x="8961120" y="5952744"/>
            <a:ext cx="237744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Cyber Security</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F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WHAT WE'LL COVER</a:t>
            </a:r>
            <a:endParaRPr lang="en-US" sz="1300" dirty="0"/>
          </a:p>
        </p:txBody>
      </p:sp>
      <p:sp>
        <p:nvSpPr>
          <p:cNvPr id="3" name="Text 1"/>
          <p:cNvSpPr/>
          <p:nvPr/>
        </p:nvSpPr>
        <p:spPr>
          <a:xfrm>
            <a:off x="594360" y="822960"/>
            <a:ext cx="5486400" cy="731520"/>
          </a:xfrm>
          <a:prstGeom prst="rect">
            <a:avLst/>
          </a:prstGeom>
          <a:noFill/>
          <a:ln/>
        </p:spPr>
        <p:txBody>
          <a:bodyPr wrap="square" rtlCol="0" anchor="ctr"/>
          <a:lstStyle/>
          <a:p>
            <a:pPr marL="0" indent="0">
              <a:buNone/>
            </a:pPr>
            <a:r>
              <a:rPr lang="en-US" sz="3400" b="1" dirty="0">
                <a:solidFill>
                  <a:srgbClr val="0B1F2A"/>
                </a:solidFill>
                <a:latin typeface="Cambria" pitchFamily="34" charset="0"/>
                <a:ea typeface="Cambria" pitchFamily="34" charset="-122"/>
                <a:cs typeface="Cambria" pitchFamily="34" charset="-120"/>
              </a:rPr>
              <a:t>Agenda</a:t>
            </a:r>
            <a:endParaRPr lang="en-US" sz="3400" dirty="0"/>
          </a:p>
        </p:txBody>
      </p:sp>
      <p:sp>
        <p:nvSpPr>
          <p:cNvPr id="4" name="Shape 2"/>
          <p:cNvSpPr/>
          <p:nvPr/>
        </p:nvSpPr>
        <p:spPr>
          <a:xfrm>
            <a:off x="640080" y="1920240"/>
            <a:ext cx="566928" cy="566928"/>
          </a:xfrm>
          <a:prstGeom prst="ellipse">
            <a:avLst/>
          </a:prstGeom>
          <a:solidFill>
            <a:srgbClr val="028090"/>
          </a:solidFill>
          <a:ln/>
        </p:spPr>
      </p:sp>
      <p:pic>
        <p:nvPicPr>
          <p:cNvPr id="5" name="Image 0" descr="/home/claude/phishing/icon_target_white.png"/>
          <p:cNvPicPr>
            <a:picLocks noChangeAspect="1"/>
          </p:cNvPicPr>
          <p:nvPr/>
        </p:nvPicPr>
        <p:blipFill>
          <a:blip r:embed="rId3"/>
          <a:stretch>
            <a:fillRect/>
          </a:stretch>
        </p:blipFill>
        <p:spPr>
          <a:xfrm>
            <a:off x="787481" y="2067641"/>
            <a:ext cx="272125" cy="272125"/>
          </a:xfrm>
          <a:prstGeom prst="rect">
            <a:avLst/>
          </a:prstGeom>
        </p:spPr>
      </p:pic>
      <p:sp>
        <p:nvSpPr>
          <p:cNvPr id="6" name="Text 3"/>
          <p:cNvSpPr/>
          <p:nvPr/>
        </p:nvSpPr>
        <p:spPr>
          <a:xfrm>
            <a:off x="1417320" y="1865376"/>
            <a:ext cx="4572000" cy="365760"/>
          </a:xfrm>
          <a:prstGeom prst="rect">
            <a:avLst/>
          </a:prstGeom>
          <a:noFill/>
          <a:ln/>
        </p:spPr>
        <p:txBody>
          <a:bodyPr wrap="square" rtlCol="0" anchor="ctr"/>
          <a:lstStyle/>
          <a:p>
            <a:pPr marL="0" indent="0">
              <a:buNone/>
            </a:pPr>
            <a:r>
              <a:rPr lang="en-US" sz="1500" b="1" dirty="0">
                <a:solidFill>
                  <a:srgbClr val="1B2B2E"/>
                </a:solidFill>
                <a:latin typeface="Calibri" pitchFamily="34" charset="0"/>
                <a:ea typeface="Calibri" pitchFamily="34" charset="-122"/>
                <a:cs typeface="Calibri" pitchFamily="34" charset="-120"/>
              </a:rPr>
              <a:t>What phishing is</a:t>
            </a:r>
            <a:endParaRPr lang="en-US" sz="1500" dirty="0"/>
          </a:p>
        </p:txBody>
      </p:sp>
      <p:sp>
        <p:nvSpPr>
          <p:cNvPr id="7" name="Text 4"/>
          <p:cNvSpPr/>
          <p:nvPr/>
        </p:nvSpPr>
        <p:spPr>
          <a:xfrm>
            <a:off x="1417320" y="2212848"/>
            <a:ext cx="4572000" cy="548640"/>
          </a:xfrm>
          <a:prstGeom prst="rect">
            <a:avLst/>
          </a:prstGeom>
          <a:noFill/>
          <a:ln/>
        </p:spPr>
        <p:txBody>
          <a:bodyPr wrap="square" rtlCol="0" anchor="ctr"/>
          <a:lstStyle/>
          <a:p>
            <a:pPr marL="0" indent="0">
              <a:lnSpc>
                <a:spcPct val="115000"/>
              </a:lnSpc>
              <a:buNone/>
            </a:pPr>
            <a:r>
              <a:rPr lang="en-US" sz="1150" dirty="0">
                <a:solidFill>
                  <a:srgbClr val="5B6C70"/>
                </a:solidFill>
                <a:latin typeface="Calibri" pitchFamily="34" charset="0"/>
                <a:ea typeface="Calibri" pitchFamily="34" charset="-122"/>
                <a:cs typeface="Calibri" pitchFamily="34" charset="-120"/>
              </a:rPr>
              <a:t>Why it's the #1 way attackers get in the door</a:t>
            </a:r>
            <a:endParaRPr lang="en-US" sz="1150" dirty="0"/>
          </a:p>
        </p:txBody>
      </p:sp>
      <p:sp>
        <p:nvSpPr>
          <p:cNvPr id="8" name="Shape 5"/>
          <p:cNvSpPr/>
          <p:nvPr/>
        </p:nvSpPr>
        <p:spPr>
          <a:xfrm>
            <a:off x="6492240" y="1920240"/>
            <a:ext cx="566928" cy="566928"/>
          </a:xfrm>
          <a:prstGeom prst="ellipse">
            <a:avLst/>
          </a:prstGeom>
          <a:solidFill>
            <a:srgbClr val="028090"/>
          </a:solidFill>
          <a:ln/>
        </p:spPr>
      </p:sp>
      <p:pic>
        <p:nvPicPr>
          <p:cNvPr id="9" name="Image 1" descr="/home/claude/phishing/icon_mail_white.png"/>
          <p:cNvPicPr>
            <a:picLocks noChangeAspect="1"/>
          </p:cNvPicPr>
          <p:nvPr/>
        </p:nvPicPr>
        <p:blipFill>
          <a:blip r:embed="rId4"/>
          <a:stretch>
            <a:fillRect/>
          </a:stretch>
        </p:blipFill>
        <p:spPr>
          <a:xfrm>
            <a:off x="6639641" y="2067641"/>
            <a:ext cx="272125" cy="272125"/>
          </a:xfrm>
          <a:prstGeom prst="rect">
            <a:avLst/>
          </a:prstGeom>
        </p:spPr>
      </p:pic>
      <p:sp>
        <p:nvSpPr>
          <p:cNvPr id="10" name="Text 6"/>
          <p:cNvSpPr/>
          <p:nvPr/>
        </p:nvSpPr>
        <p:spPr>
          <a:xfrm>
            <a:off x="7269480" y="1865376"/>
            <a:ext cx="4572000" cy="365760"/>
          </a:xfrm>
          <a:prstGeom prst="rect">
            <a:avLst/>
          </a:prstGeom>
          <a:noFill/>
          <a:ln/>
        </p:spPr>
        <p:txBody>
          <a:bodyPr wrap="square" rtlCol="0" anchor="ctr"/>
          <a:lstStyle/>
          <a:p>
            <a:pPr marL="0" indent="0">
              <a:buNone/>
            </a:pPr>
            <a:r>
              <a:rPr lang="en-US" sz="1500" b="1" dirty="0">
                <a:solidFill>
                  <a:srgbClr val="1B2B2E"/>
                </a:solidFill>
                <a:latin typeface="Calibri" pitchFamily="34" charset="0"/>
                <a:ea typeface="Calibri" pitchFamily="34" charset="-122"/>
                <a:cs typeface="Calibri" pitchFamily="34" charset="-120"/>
              </a:rPr>
              <a:t>Anatomy of a phishing email</a:t>
            </a:r>
            <a:endParaRPr lang="en-US" sz="1500" dirty="0"/>
          </a:p>
        </p:txBody>
      </p:sp>
      <p:sp>
        <p:nvSpPr>
          <p:cNvPr id="11" name="Text 7"/>
          <p:cNvSpPr/>
          <p:nvPr/>
        </p:nvSpPr>
        <p:spPr>
          <a:xfrm>
            <a:off x="7269480" y="2212848"/>
            <a:ext cx="4572000" cy="548640"/>
          </a:xfrm>
          <a:prstGeom prst="rect">
            <a:avLst/>
          </a:prstGeom>
          <a:noFill/>
          <a:ln/>
        </p:spPr>
        <p:txBody>
          <a:bodyPr wrap="square" rtlCol="0" anchor="ctr"/>
          <a:lstStyle/>
          <a:p>
            <a:pPr marL="0" indent="0">
              <a:lnSpc>
                <a:spcPct val="115000"/>
              </a:lnSpc>
              <a:buNone/>
            </a:pPr>
            <a:r>
              <a:rPr lang="en-US" sz="1150" dirty="0">
                <a:solidFill>
                  <a:srgbClr val="5B6C70"/>
                </a:solidFill>
                <a:latin typeface="Calibri" pitchFamily="34" charset="0"/>
                <a:ea typeface="Calibri" pitchFamily="34" charset="-122"/>
                <a:cs typeface="Calibri" pitchFamily="34" charset="-120"/>
              </a:rPr>
              <a:t>The tell-tale signs hiding in plain sight</a:t>
            </a:r>
            <a:endParaRPr lang="en-US" sz="1150" dirty="0"/>
          </a:p>
        </p:txBody>
      </p:sp>
      <p:sp>
        <p:nvSpPr>
          <p:cNvPr id="12" name="Shape 8"/>
          <p:cNvSpPr/>
          <p:nvPr/>
        </p:nvSpPr>
        <p:spPr>
          <a:xfrm>
            <a:off x="640080" y="3383280"/>
            <a:ext cx="566928" cy="566928"/>
          </a:xfrm>
          <a:prstGeom prst="ellipse">
            <a:avLst/>
          </a:prstGeom>
          <a:solidFill>
            <a:srgbClr val="028090"/>
          </a:solidFill>
          <a:ln/>
        </p:spPr>
      </p:sp>
      <p:pic>
        <p:nvPicPr>
          <p:cNvPr id="13" name="Image 2" descr="/home/claude/phishing/icon_link_white.png"/>
          <p:cNvPicPr>
            <a:picLocks noChangeAspect="1"/>
          </p:cNvPicPr>
          <p:nvPr/>
        </p:nvPicPr>
        <p:blipFill>
          <a:blip r:embed="rId5"/>
          <a:stretch>
            <a:fillRect/>
          </a:stretch>
        </p:blipFill>
        <p:spPr>
          <a:xfrm>
            <a:off x="787481" y="3530681"/>
            <a:ext cx="272125" cy="272125"/>
          </a:xfrm>
          <a:prstGeom prst="rect">
            <a:avLst/>
          </a:prstGeom>
        </p:spPr>
      </p:pic>
      <p:sp>
        <p:nvSpPr>
          <p:cNvPr id="14" name="Text 9"/>
          <p:cNvSpPr/>
          <p:nvPr/>
        </p:nvSpPr>
        <p:spPr>
          <a:xfrm>
            <a:off x="1417320" y="3328416"/>
            <a:ext cx="4572000" cy="365760"/>
          </a:xfrm>
          <a:prstGeom prst="rect">
            <a:avLst/>
          </a:prstGeom>
          <a:noFill/>
          <a:ln/>
        </p:spPr>
        <p:txBody>
          <a:bodyPr wrap="square" rtlCol="0" anchor="ctr"/>
          <a:lstStyle/>
          <a:p>
            <a:pPr marL="0" indent="0">
              <a:buNone/>
            </a:pPr>
            <a:r>
              <a:rPr lang="en-US" sz="1500" b="1" dirty="0">
                <a:solidFill>
                  <a:srgbClr val="1B2B2E"/>
                </a:solidFill>
                <a:latin typeface="Calibri" pitchFamily="34" charset="0"/>
                <a:ea typeface="Calibri" pitchFamily="34" charset="-122"/>
                <a:cs typeface="Calibri" pitchFamily="34" charset="-120"/>
              </a:rPr>
              <a:t>Spotting fake websites</a:t>
            </a:r>
            <a:endParaRPr lang="en-US" sz="1500" dirty="0"/>
          </a:p>
        </p:txBody>
      </p:sp>
      <p:sp>
        <p:nvSpPr>
          <p:cNvPr id="15" name="Text 10"/>
          <p:cNvSpPr/>
          <p:nvPr/>
        </p:nvSpPr>
        <p:spPr>
          <a:xfrm>
            <a:off x="1417320" y="3675888"/>
            <a:ext cx="4572000" cy="548640"/>
          </a:xfrm>
          <a:prstGeom prst="rect">
            <a:avLst/>
          </a:prstGeom>
          <a:noFill/>
          <a:ln/>
        </p:spPr>
        <p:txBody>
          <a:bodyPr wrap="square" rtlCol="0" anchor="ctr"/>
          <a:lstStyle/>
          <a:p>
            <a:pPr marL="0" indent="0">
              <a:lnSpc>
                <a:spcPct val="115000"/>
              </a:lnSpc>
              <a:buNone/>
            </a:pPr>
            <a:r>
              <a:rPr lang="en-US" sz="1150" dirty="0">
                <a:solidFill>
                  <a:srgbClr val="5B6C70"/>
                </a:solidFill>
                <a:latin typeface="Calibri" pitchFamily="34" charset="0"/>
                <a:ea typeface="Calibri" pitchFamily="34" charset="-122"/>
                <a:cs typeface="Calibri" pitchFamily="34" charset="-120"/>
              </a:rPr>
              <a:t>URLs, certificates, and login pages that lie</a:t>
            </a:r>
            <a:endParaRPr lang="en-US" sz="1150" dirty="0"/>
          </a:p>
        </p:txBody>
      </p:sp>
      <p:sp>
        <p:nvSpPr>
          <p:cNvPr id="16" name="Shape 11"/>
          <p:cNvSpPr/>
          <p:nvPr/>
        </p:nvSpPr>
        <p:spPr>
          <a:xfrm>
            <a:off x="6492240" y="3383280"/>
            <a:ext cx="566928" cy="566928"/>
          </a:xfrm>
          <a:prstGeom prst="ellipse">
            <a:avLst/>
          </a:prstGeom>
          <a:solidFill>
            <a:srgbClr val="028090"/>
          </a:solidFill>
          <a:ln/>
        </p:spPr>
      </p:sp>
      <p:pic>
        <p:nvPicPr>
          <p:cNvPr id="17" name="Image 3" descr="/home/claude/phishing/icon_userCheck_white.png"/>
          <p:cNvPicPr>
            <a:picLocks noChangeAspect="1"/>
          </p:cNvPicPr>
          <p:nvPr/>
        </p:nvPicPr>
        <p:blipFill>
          <a:blip r:embed="rId6"/>
          <a:stretch>
            <a:fillRect/>
          </a:stretch>
        </p:blipFill>
        <p:spPr>
          <a:xfrm>
            <a:off x="6639641" y="3530681"/>
            <a:ext cx="272125" cy="272125"/>
          </a:xfrm>
          <a:prstGeom prst="rect">
            <a:avLst/>
          </a:prstGeom>
        </p:spPr>
      </p:pic>
      <p:sp>
        <p:nvSpPr>
          <p:cNvPr id="18" name="Text 12"/>
          <p:cNvSpPr/>
          <p:nvPr/>
        </p:nvSpPr>
        <p:spPr>
          <a:xfrm>
            <a:off x="7269480" y="3328416"/>
            <a:ext cx="4572000" cy="365760"/>
          </a:xfrm>
          <a:prstGeom prst="rect">
            <a:avLst/>
          </a:prstGeom>
          <a:noFill/>
          <a:ln/>
        </p:spPr>
        <p:txBody>
          <a:bodyPr wrap="square" rtlCol="0" anchor="ctr"/>
          <a:lstStyle/>
          <a:p>
            <a:pPr marL="0" indent="0">
              <a:buNone/>
            </a:pPr>
            <a:r>
              <a:rPr lang="en-US" sz="1500" b="1" dirty="0">
                <a:solidFill>
                  <a:srgbClr val="1B2B2E"/>
                </a:solidFill>
                <a:latin typeface="Calibri" pitchFamily="34" charset="0"/>
                <a:ea typeface="Calibri" pitchFamily="34" charset="-122"/>
                <a:cs typeface="Calibri" pitchFamily="34" charset="-120"/>
              </a:rPr>
              <a:t>Social engineering tactics</a:t>
            </a:r>
            <a:endParaRPr lang="en-US" sz="1500" dirty="0"/>
          </a:p>
        </p:txBody>
      </p:sp>
      <p:sp>
        <p:nvSpPr>
          <p:cNvPr id="19" name="Text 13"/>
          <p:cNvSpPr/>
          <p:nvPr/>
        </p:nvSpPr>
        <p:spPr>
          <a:xfrm>
            <a:off x="7269480" y="3675888"/>
            <a:ext cx="4572000" cy="548640"/>
          </a:xfrm>
          <a:prstGeom prst="rect">
            <a:avLst/>
          </a:prstGeom>
          <a:noFill/>
          <a:ln/>
        </p:spPr>
        <p:txBody>
          <a:bodyPr wrap="square" rtlCol="0" anchor="ctr"/>
          <a:lstStyle/>
          <a:p>
            <a:pPr marL="0" indent="0">
              <a:lnSpc>
                <a:spcPct val="115000"/>
              </a:lnSpc>
              <a:buNone/>
            </a:pPr>
            <a:r>
              <a:rPr lang="en-US" sz="1150" dirty="0">
                <a:solidFill>
                  <a:srgbClr val="5B6C70"/>
                </a:solidFill>
                <a:latin typeface="Calibri" pitchFamily="34" charset="0"/>
                <a:ea typeface="Calibri" pitchFamily="34" charset="-122"/>
                <a:cs typeface="Calibri" pitchFamily="34" charset="-120"/>
              </a:rPr>
              <a:t>The psychology attackers exploit</a:t>
            </a:r>
            <a:endParaRPr lang="en-US" sz="1150" dirty="0"/>
          </a:p>
        </p:txBody>
      </p:sp>
      <p:sp>
        <p:nvSpPr>
          <p:cNvPr id="20" name="Shape 14"/>
          <p:cNvSpPr/>
          <p:nvPr/>
        </p:nvSpPr>
        <p:spPr>
          <a:xfrm>
            <a:off x="640080" y="4846320"/>
            <a:ext cx="566928" cy="566928"/>
          </a:xfrm>
          <a:prstGeom prst="ellipse">
            <a:avLst/>
          </a:prstGeom>
          <a:solidFill>
            <a:srgbClr val="028090"/>
          </a:solidFill>
          <a:ln/>
        </p:spPr>
      </p:sp>
      <p:pic>
        <p:nvPicPr>
          <p:cNvPr id="21" name="Image 4" descr="/home/claude/phishing/icon_flag_white.png"/>
          <p:cNvPicPr>
            <a:picLocks noChangeAspect="1"/>
          </p:cNvPicPr>
          <p:nvPr/>
        </p:nvPicPr>
        <p:blipFill>
          <a:blip r:embed="rId7"/>
          <a:stretch>
            <a:fillRect/>
          </a:stretch>
        </p:blipFill>
        <p:spPr>
          <a:xfrm>
            <a:off x="787481" y="4993721"/>
            <a:ext cx="272125" cy="272125"/>
          </a:xfrm>
          <a:prstGeom prst="rect">
            <a:avLst/>
          </a:prstGeom>
        </p:spPr>
      </p:pic>
      <p:sp>
        <p:nvSpPr>
          <p:cNvPr id="22" name="Text 15"/>
          <p:cNvSpPr/>
          <p:nvPr/>
        </p:nvSpPr>
        <p:spPr>
          <a:xfrm>
            <a:off x="1417320" y="4791456"/>
            <a:ext cx="4572000" cy="365760"/>
          </a:xfrm>
          <a:prstGeom prst="rect">
            <a:avLst/>
          </a:prstGeom>
          <a:noFill/>
          <a:ln/>
        </p:spPr>
        <p:txBody>
          <a:bodyPr wrap="square" rtlCol="0" anchor="ctr"/>
          <a:lstStyle/>
          <a:p>
            <a:pPr marL="0" indent="0">
              <a:buNone/>
            </a:pPr>
            <a:r>
              <a:rPr lang="en-US" sz="1500" b="1" dirty="0">
                <a:solidFill>
                  <a:srgbClr val="1B2B2E"/>
                </a:solidFill>
                <a:latin typeface="Calibri" pitchFamily="34" charset="0"/>
                <a:ea typeface="Calibri" pitchFamily="34" charset="-122"/>
                <a:cs typeface="Calibri" pitchFamily="34" charset="-120"/>
              </a:rPr>
              <a:t>Real-world cases</a:t>
            </a:r>
            <a:endParaRPr lang="en-US" sz="1500" dirty="0"/>
          </a:p>
        </p:txBody>
      </p:sp>
      <p:sp>
        <p:nvSpPr>
          <p:cNvPr id="23" name="Text 16"/>
          <p:cNvSpPr/>
          <p:nvPr/>
        </p:nvSpPr>
        <p:spPr>
          <a:xfrm>
            <a:off x="1417320" y="5138928"/>
            <a:ext cx="4572000" cy="548640"/>
          </a:xfrm>
          <a:prstGeom prst="rect">
            <a:avLst/>
          </a:prstGeom>
          <a:noFill/>
          <a:ln/>
        </p:spPr>
        <p:txBody>
          <a:bodyPr wrap="square" rtlCol="0" anchor="ctr"/>
          <a:lstStyle/>
          <a:p>
            <a:pPr marL="0" indent="0">
              <a:lnSpc>
                <a:spcPct val="115000"/>
              </a:lnSpc>
              <a:buNone/>
            </a:pPr>
            <a:r>
              <a:rPr lang="en-US" sz="1150" dirty="0">
                <a:solidFill>
                  <a:srgbClr val="5B6C70"/>
                </a:solidFill>
                <a:latin typeface="Calibri" pitchFamily="34" charset="0"/>
                <a:ea typeface="Calibri" pitchFamily="34" charset="-122"/>
                <a:cs typeface="Calibri" pitchFamily="34" charset="-120"/>
              </a:rPr>
              <a:t>Two breaches that started with one email</a:t>
            </a:r>
            <a:endParaRPr lang="en-US" sz="1150" dirty="0"/>
          </a:p>
        </p:txBody>
      </p:sp>
      <p:sp>
        <p:nvSpPr>
          <p:cNvPr id="24" name="Shape 17"/>
          <p:cNvSpPr/>
          <p:nvPr/>
        </p:nvSpPr>
        <p:spPr>
          <a:xfrm>
            <a:off x="6492240" y="4846320"/>
            <a:ext cx="566928" cy="566928"/>
          </a:xfrm>
          <a:prstGeom prst="ellipse">
            <a:avLst/>
          </a:prstGeom>
          <a:solidFill>
            <a:srgbClr val="028090"/>
          </a:solidFill>
          <a:ln/>
        </p:spPr>
      </p:sp>
      <p:pic>
        <p:nvPicPr>
          <p:cNvPr id="25" name="Image 5" descr="/home/claude/phishing/icon_shield_white.png"/>
          <p:cNvPicPr>
            <a:picLocks noChangeAspect="1"/>
          </p:cNvPicPr>
          <p:nvPr/>
        </p:nvPicPr>
        <p:blipFill>
          <a:blip r:embed="rId8"/>
          <a:stretch>
            <a:fillRect/>
          </a:stretch>
        </p:blipFill>
        <p:spPr>
          <a:xfrm>
            <a:off x="6639641" y="4993721"/>
            <a:ext cx="272125" cy="272125"/>
          </a:xfrm>
          <a:prstGeom prst="rect">
            <a:avLst/>
          </a:prstGeom>
        </p:spPr>
      </p:pic>
      <p:sp>
        <p:nvSpPr>
          <p:cNvPr id="26" name="Text 18"/>
          <p:cNvSpPr/>
          <p:nvPr/>
        </p:nvSpPr>
        <p:spPr>
          <a:xfrm>
            <a:off x="7269480" y="4791456"/>
            <a:ext cx="4572000" cy="365760"/>
          </a:xfrm>
          <a:prstGeom prst="rect">
            <a:avLst/>
          </a:prstGeom>
          <a:noFill/>
          <a:ln/>
        </p:spPr>
        <p:txBody>
          <a:bodyPr wrap="square" rtlCol="0" anchor="ctr"/>
          <a:lstStyle/>
          <a:p>
            <a:pPr marL="0" indent="0">
              <a:buNone/>
            </a:pPr>
            <a:r>
              <a:rPr lang="en-US" sz="1500" b="1" dirty="0">
                <a:solidFill>
                  <a:srgbClr val="1B2B2E"/>
                </a:solidFill>
                <a:latin typeface="Calibri" pitchFamily="34" charset="0"/>
                <a:ea typeface="Calibri" pitchFamily="34" charset="-122"/>
                <a:cs typeface="Calibri" pitchFamily="34" charset="-120"/>
              </a:rPr>
              <a:t>Best practices &amp; quiz</a:t>
            </a:r>
            <a:endParaRPr lang="en-US" sz="1500" dirty="0"/>
          </a:p>
        </p:txBody>
      </p:sp>
      <p:sp>
        <p:nvSpPr>
          <p:cNvPr id="27" name="Text 19"/>
          <p:cNvSpPr/>
          <p:nvPr/>
        </p:nvSpPr>
        <p:spPr>
          <a:xfrm>
            <a:off x="7269480" y="5138928"/>
            <a:ext cx="4572000" cy="548640"/>
          </a:xfrm>
          <a:prstGeom prst="rect">
            <a:avLst/>
          </a:prstGeom>
          <a:noFill/>
          <a:ln/>
        </p:spPr>
        <p:txBody>
          <a:bodyPr wrap="square" rtlCol="0" anchor="ctr"/>
          <a:lstStyle/>
          <a:p>
            <a:pPr marL="0" indent="0">
              <a:lnSpc>
                <a:spcPct val="115000"/>
              </a:lnSpc>
              <a:buNone/>
            </a:pPr>
            <a:r>
              <a:rPr lang="en-US" sz="1150" dirty="0">
                <a:solidFill>
                  <a:srgbClr val="5B6C70"/>
                </a:solidFill>
                <a:latin typeface="Calibri" pitchFamily="34" charset="0"/>
                <a:ea typeface="Calibri" pitchFamily="34" charset="-122"/>
                <a:cs typeface="Calibri" pitchFamily="34" charset="-120"/>
              </a:rPr>
              <a:t>Habits that keep you safe, then test yourself</a:t>
            </a:r>
            <a:endParaRPr lang="en-US" sz="1150" dirty="0"/>
          </a:p>
        </p:txBody>
      </p:sp>
      <p:sp>
        <p:nvSpPr>
          <p:cNvPr id="28" name="Text 20"/>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29" name="Text 21"/>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THE BIG PICTURE</a:t>
            </a:r>
            <a:endParaRPr lang="en-US" sz="1300" dirty="0"/>
          </a:p>
        </p:txBody>
      </p:sp>
      <p:sp>
        <p:nvSpPr>
          <p:cNvPr id="3" name="Text 1"/>
          <p:cNvSpPr/>
          <p:nvPr/>
        </p:nvSpPr>
        <p:spPr>
          <a:xfrm>
            <a:off x="594360" y="822960"/>
            <a:ext cx="7315200" cy="731520"/>
          </a:xfrm>
          <a:prstGeom prst="rect">
            <a:avLst/>
          </a:prstGeom>
          <a:noFill/>
          <a:ln/>
        </p:spPr>
        <p:txBody>
          <a:bodyPr wrap="square" rtlCol="0" anchor="ctr"/>
          <a:lstStyle/>
          <a:p>
            <a:pPr marL="0" indent="0">
              <a:buNone/>
            </a:pPr>
            <a:r>
              <a:rPr lang="en-US" sz="3200" b="1" dirty="0">
                <a:solidFill>
                  <a:srgbClr val="0B1F2A"/>
                </a:solidFill>
                <a:latin typeface="Cambria" pitchFamily="34" charset="0"/>
                <a:ea typeface="Cambria" pitchFamily="34" charset="-122"/>
                <a:cs typeface="Cambria" pitchFamily="34" charset="-120"/>
              </a:rPr>
              <a:t>What Is Phishing?</a:t>
            </a:r>
            <a:endParaRPr lang="en-US" sz="3200" dirty="0"/>
          </a:p>
        </p:txBody>
      </p:sp>
      <p:sp>
        <p:nvSpPr>
          <p:cNvPr id="4" name="Text 2"/>
          <p:cNvSpPr/>
          <p:nvPr/>
        </p:nvSpPr>
        <p:spPr>
          <a:xfrm>
            <a:off x="640080" y="1691640"/>
            <a:ext cx="6035040" cy="1280160"/>
          </a:xfrm>
          <a:prstGeom prst="rect">
            <a:avLst/>
          </a:prstGeom>
          <a:noFill/>
          <a:ln/>
        </p:spPr>
        <p:txBody>
          <a:bodyPr wrap="square" rtlCol="0" anchor="ctr"/>
          <a:lstStyle/>
          <a:p>
            <a:pPr marL="0" indent="0">
              <a:lnSpc>
                <a:spcPct val="135000"/>
              </a:lnSpc>
              <a:buNone/>
            </a:pPr>
            <a:r>
              <a:rPr lang="en-US" sz="1500" b="1" dirty="0">
                <a:solidFill>
                  <a:srgbClr val="0B1F2A"/>
                </a:solidFill>
                <a:latin typeface="Calibri" pitchFamily="34" charset="0"/>
                <a:ea typeface="Calibri" pitchFamily="34" charset="-122"/>
                <a:cs typeface="Calibri" pitchFamily="34" charset="-120"/>
              </a:rPr>
              <a:t>Phishing</a:t>
            </a:r>
            <a:r>
              <a:rPr lang="en-US" sz="1500" dirty="0">
                <a:solidFill>
                  <a:srgbClr val="35474B"/>
                </a:solidFill>
                <a:latin typeface="Calibri" pitchFamily="34" charset="0"/>
                <a:ea typeface="Calibri" pitchFamily="34" charset="-122"/>
                <a:cs typeface="Calibri" pitchFamily="34" charset="-120"/>
              </a:rPr>
              <a:t> is a scam where an attacker impersonates a trusted person or brand — a bank, a coworker, IT support, a delivery service — to trick you into </a:t>
            </a:r>
            <a:r>
              <a:rPr lang="en-US" sz="1500" b="1" dirty="0">
                <a:solidFill>
                  <a:srgbClr val="0B1F2A"/>
                </a:solidFill>
                <a:latin typeface="Calibri" pitchFamily="34" charset="0"/>
                <a:ea typeface="Calibri" pitchFamily="34" charset="-122"/>
                <a:cs typeface="Calibri" pitchFamily="34" charset="-120"/>
              </a:rPr>
              <a:t>handing over credentials, payment details, or access</a:t>
            </a:r>
            <a:r>
              <a:rPr lang="en-US" sz="1500" dirty="0">
                <a:solidFill>
                  <a:srgbClr val="35474B"/>
                </a:solidFill>
                <a:latin typeface="Calibri" pitchFamily="34" charset="0"/>
                <a:ea typeface="Calibri" pitchFamily="34" charset="-122"/>
                <a:cs typeface="Calibri" pitchFamily="34" charset="-120"/>
              </a:rPr>
              <a:t> to a system.</a:t>
            </a:r>
            <a:endParaRPr lang="en-US" sz="1500" dirty="0"/>
          </a:p>
        </p:txBody>
      </p:sp>
      <p:sp>
        <p:nvSpPr>
          <p:cNvPr id="5" name="Text 3"/>
          <p:cNvSpPr/>
          <p:nvPr/>
        </p:nvSpPr>
        <p:spPr>
          <a:xfrm>
            <a:off x="640080" y="3063240"/>
            <a:ext cx="6035040" cy="1828800"/>
          </a:xfrm>
          <a:prstGeom prst="rect">
            <a:avLst/>
          </a:prstGeom>
          <a:noFill/>
          <a:ln/>
        </p:spPr>
        <p:txBody>
          <a:bodyPr wrap="square" rtlCol="0" anchor="ctr"/>
          <a:lstStyle/>
          <a:p>
            <a:pPr marL="342900" indent="-342900">
              <a:spcAft>
                <a:spcPts val="1000"/>
              </a:spcAft>
              <a:buSzPct val="100000"/>
              <a:buChar char="•"/>
            </a:pPr>
            <a:r>
              <a:rPr lang="en-US" sz="1350" dirty="0">
                <a:solidFill>
                  <a:srgbClr val="35474B"/>
                </a:solidFill>
                <a:latin typeface="Calibri" pitchFamily="34" charset="0"/>
                <a:ea typeface="Calibri" pitchFamily="34" charset="-122"/>
                <a:cs typeface="Calibri" pitchFamily="34" charset="-120"/>
              </a:rPr>
              <a:t>Arrives by email, text (smishing), phone call (vishing), or chat</a:t>
            </a:r>
            <a:endParaRPr lang="en-US" sz="1350" dirty="0"/>
          </a:p>
          <a:p>
            <a:pPr marL="342900" indent="-342900">
              <a:spcAft>
                <a:spcPts val="1000"/>
              </a:spcAft>
              <a:buSzPct val="100000"/>
              <a:buChar char="•"/>
            </a:pPr>
            <a:r>
              <a:rPr lang="en-US" sz="1350" dirty="0">
                <a:solidFill>
                  <a:srgbClr val="35474B"/>
                </a:solidFill>
                <a:latin typeface="Calibri" pitchFamily="34" charset="0"/>
                <a:ea typeface="Calibri" pitchFamily="34" charset="-122"/>
                <a:cs typeface="Calibri" pitchFamily="34" charset="-120"/>
              </a:rPr>
              <a:t>Doesn't need to hack your software — it only needs you to click, reply, or approve</a:t>
            </a:r>
            <a:endParaRPr lang="en-US" sz="1350" dirty="0"/>
          </a:p>
          <a:p>
            <a:pPr marL="342900" indent="-342900">
              <a:spcAft>
                <a:spcPts val="1000"/>
              </a:spcAft>
              <a:buSzPct val="100000"/>
              <a:buChar char="•"/>
            </a:pPr>
            <a:r>
              <a:rPr lang="en-US" sz="1350" dirty="0">
                <a:solidFill>
                  <a:srgbClr val="35474B"/>
                </a:solidFill>
                <a:latin typeface="Calibri" pitchFamily="34" charset="0"/>
                <a:ea typeface="Calibri" pitchFamily="34" charset="-122"/>
                <a:cs typeface="Calibri" pitchFamily="34" charset="-120"/>
              </a:rPr>
              <a:t>Is often the very first step in a much larger breach or ransomware attack</a:t>
            </a:r>
            <a:endParaRPr lang="en-US" sz="1350" dirty="0"/>
          </a:p>
        </p:txBody>
      </p:sp>
      <p:sp>
        <p:nvSpPr>
          <p:cNvPr id="6" name="Shape 4"/>
          <p:cNvSpPr/>
          <p:nvPr/>
        </p:nvSpPr>
        <p:spPr>
          <a:xfrm>
            <a:off x="7132320" y="1691640"/>
            <a:ext cx="4389120" cy="4206240"/>
          </a:xfrm>
          <a:prstGeom prst="roundRect">
            <a:avLst>
              <a:gd name="adj" fmla="val 2609"/>
            </a:avLst>
          </a:prstGeom>
          <a:solidFill>
            <a:srgbClr val="0B1F2A"/>
          </a:solidFill>
          <a:ln/>
        </p:spPr>
      </p:sp>
      <p:sp>
        <p:nvSpPr>
          <p:cNvPr id="7" name="Text 5"/>
          <p:cNvSpPr/>
          <p:nvPr/>
        </p:nvSpPr>
        <p:spPr>
          <a:xfrm>
            <a:off x="7132320" y="1965960"/>
            <a:ext cx="4389120" cy="1188720"/>
          </a:xfrm>
          <a:prstGeom prst="rect">
            <a:avLst/>
          </a:prstGeom>
          <a:noFill/>
          <a:ln/>
        </p:spPr>
        <p:txBody>
          <a:bodyPr wrap="square" rtlCol="0" anchor="ctr"/>
          <a:lstStyle/>
          <a:p>
            <a:pPr marL="0" indent="0" algn="ctr">
              <a:buNone/>
            </a:pPr>
            <a:r>
              <a:rPr lang="en-US" sz="6400" b="1" dirty="0">
                <a:solidFill>
                  <a:srgbClr val="02C39A"/>
                </a:solidFill>
                <a:latin typeface="Cambria" pitchFamily="34" charset="0"/>
                <a:ea typeface="Cambria" pitchFamily="34" charset="-122"/>
                <a:cs typeface="Cambria" pitchFamily="34" charset="-120"/>
              </a:rPr>
              <a:t>60%</a:t>
            </a:r>
            <a:endParaRPr lang="en-US" sz="6400" dirty="0"/>
          </a:p>
        </p:txBody>
      </p:sp>
      <p:sp>
        <p:nvSpPr>
          <p:cNvPr id="8" name="Text 6"/>
          <p:cNvSpPr/>
          <p:nvPr/>
        </p:nvSpPr>
        <p:spPr>
          <a:xfrm>
            <a:off x="7452360" y="3063240"/>
            <a:ext cx="3749040" cy="1005840"/>
          </a:xfrm>
          <a:prstGeom prst="rect">
            <a:avLst/>
          </a:prstGeom>
          <a:noFill/>
          <a:ln/>
        </p:spPr>
        <p:txBody>
          <a:bodyPr wrap="square" rtlCol="0" anchor="ctr"/>
          <a:lstStyle/>
          <a:p>
            <a:pPr marL="0" indent="0" algn="ctr">
              <a:lnSpc>
                <a:spcPct val="130000"/>
              </a:lnSpc>
              <a:buNone/>
            </a:pPr>
            <a:r>
              <a:rPr lang="en-US" sz="1300" dirty="0">
                <a:solidFill>
                  <a:srgbClr val="FFFFFF"/>
                </a:solidFill>
                <a:latin typeface="Calibri" pitchFamily="34" charset="0"/>
                <a:ea typeface="Calibri" pitchFamily="34" charset="-122"/>
                <a:cs typeface="Calibri" pitchFamily="34" charset="-120"/>
              </a:rPr>
              <a:t>of confirmed data breaches involve</a:t>
            </a:r>
            <a:endParaRPr lang="en-US" sz="1300" dirty="0"/>
          </a:p>
          <a:p>
            <a:pPr marL="0" indent="0" algn="ctr">
              <a:lnSpc>
                <a:spcPct val="130000"/>
              </a:lnSpc>
              <a:buNone/>
            </a:pPr>
            <a:r>
              <a:rPr lang="en-US" sz="1300" dirty="0">
                <a:solidFill>
                  <a:srgbClr val="FFFFFF"/>
                </a:solidFill>
                <a:latin typeface="Calibri" pitchFamily="34" charset="0"/>
                <a:ea typeface="Calibri" pitchFamily="34" charset="-122"/>
                <a:cs typeface="Calibri" pitchFamily="34" charset="-120"/>
              </a:rPr>
              <a:t>a human action — a click, a reply,</a:t>
            </a:r>
            <a:endParaRPr lang="en-US" sz="1300" dirty="0"/>
          </a:p>
          <a:p>
            <a:pPr marL="0" indent="0" algn="ctr">
              <a:lnSpc>
                <a:spcPct val="130000"/>
              </a:lnSpc>
              <a:buNone/>
            </a:pPr>
            <a:r>
              <a:rPr lang="en-US" sz="1300" dirty="0">
                <a:solidFill>
                  <a:srgbClr val="FFFFFF"/>
                </a:solidFill>
                <a:latin typeface="Calibri" pitchFamily="34" charset="0"/>
                <a:ea typeface="Calibri" pitchFamily="34" charset="-122"/>
                <a:cs typeface="Calibri" pitchFamily="34" charset="-120"/>
              </a:rPr>
              <a:t>or a rushed approval</a:t>
            </a:r>
            <a:endParaRPr lang="en-US" sz="1300" dirty="0"/>
          </a:p>
        </p:txBody>
      </p:sp>
      <p:sp>
        <p:nvSpPr>
          <p:cNvPr id="9" name="Shape 7"/>
          <p:cNvSpPr/>
          <p:nvPr/>
        </p:nvSpPr>
        <p:spPr>
          <a:xfrm>
            <a:off x="7680960" y="4206240"/>
            <a:ext cx="3291840" cy="0"/>
          </a:xfrm>
          <a:prstGeom prst="line">
            <a:avLst/>
          </a:prstGeom>
          <a:noFill/>
          <a:ln w="12700">
            <a:solidFill>
              <a:srgbClr val="2E4750"/>
            </a:solidFill>
            <a:prstDash val="solid"/>
          </a:ln>
        </p:spPr>
      </p:sp>
      <p:sp>
        <p:nvSpPr>
          <p:cNvPr id="10" name="Text 8"/>
          <p:cNvSpPr/>
          <p:nvPr/>
        </p:nvSpPr>
        <p:spPr>
          <a:xfrm>
            <a:off x="7132320" y="4389120"/>
            <a:ext cx="4389120" cy="640080"/>
          </a:xfrm>
          <a:prstGeom prst="rect">
            <a:avLst/>
          </a:prstGeom>
          <a:noFill/>
          <a:ln/>
        </p:spPr>
        <p:txBody>
          <a:bodyPr wrap="square" rtlCol="0" anchor="ctr"/>
          <a:lstStyle/>
          <a:p>
            <a:pPr marL="0" indent="0" algn="ctr">
              <a:buNone/>
            </a:pPr>
            <a:r>
              <a:rPr lang="en-US" sz="3000" b="1" dirty="0">
                <a:solidFill>
                  <a:srgbClr val="00A896"/>
                </a:solidFill>
                <a:latin typeface="Cambria" pitchFamily="34" charset="0"/>
                <a:ea typeface="Cambria" pitchFamily="34" charset="-122"/>
                <a:cs typeface="Cambria" pitchFamily="34" charset="-120"/>
              </a:rPr>
              <a:t>15%</a:t>
            </a:r>
            <a:endParaRPr lang="en-US" sz="3000" dirty="0"/>
          </a:p>
        </p:txBody>
      </p:sp>
      <p:sp>
        <p:nvSpPr>
          <p:cNvPr id="11" name="Text 9"/>
          <p:cNvSpPr/>
          <p:nvPr/>
        </p:nvSpPr>
        <p:spPr>
          <a:xfrm>
            <a:off x="7452360" y="5029200"/>
            <a:ext cx="3749040" cy="777240"/>
          </a:xfrm>
          <a:prstGeom prst="rect">
            <a:avLst/>
          </a:prstGeom>
          <a:noFill/>
          <a:ln/>
        </p:spPr>
        <p:txBody>
          <a:bodyPr wrap="square" rtlCol="0" anchor="ctr"/>
          <a:lstStyle/>
          <a:p>
            <a:pPr marL="0" indent="0" algn="ctr">
              <a:lnSpc>
                <a:spcPct val="125000"/>
              </a:lnSpc>
              <a:buNone/>
            </a:pPr>
            <a:r>
              <a:rPr lang="en-US" sz="1200" dirty="0">
                <a:solidFill>
                  <a:srgbClr val="C7DADD"/>
                </a:solidFill>
                <a:latin typeface="Calibri" pitchFamily="34" charset="0"/>
                <a:ea typeface="Calibri" pitchFamily="34" charset="-122"/>
                <a:cs typeface="Calibri" pitchFamily="34" charset="-120"/>
              </a:rPr>
              <a:t>of breaches started with a phishing</a:t>
            </a:r>
            <a:endParaRPr lang="en-US" sz="1200" dirty="0"/>
          </a:p>
          <a:p>
            <a:pPr marL="0" indent="0" algn="ctr">
              <a:lnSpc>
                <a:spcPct val="125000"/>
              </a:lnSpc>
              <a:buNone/>
            </a:pPr>
            <a:r>
              <a:rPr lang="en-US" sz="1200" dirty="0">
                <a:solidFill>
                  <a:srgbClr val="C7DADD"/>
                </a:solidFill>
                <a:latin typeface="Calibri" pitchFamily="34" charset="0"/>
                <a:ea typeface="Calibri" pitchFamily="34" charset="-122"/>
                <a:cs typeface="Calibri" pitchFamily="34" charset="-120"/>
              </a:rPr>
              <a:t>email as the initial point of entry</a:t>
            </a:r>
            <a:endParaRPr lang="en-US" sz="1200" dirty="0"/>
          </a:p>
        </p:txBody>
      </p:sp>
      <p:sp>
        <p:nvSpPr>
          <p:cNvPr id="12" name="Text 10"/>
          <p:cNvSpPr/>
          <p:nvPr/>
        </p:nvSpPr>
        <p:spPr>
          <a:xfrm>
            <a:off x="7132320" y="5760720"/>
            <a:ext cx="4389120" cy="274320"/>
          </a:xfrm>
          <a:prstGeom prst="rect">
            <a:avLst/>
          </a:prstGeom>
          <a:noFill/>
          <a:ln/>
        </p:spPr>
        <p:txBody>
          <a:bodyPr wrap="square" rtlCol="0" anchor="ctr"/>
          <a:lstStyle/>
          <a:p>
            <a:pPr marL="0" indent="0" algn="ctr">
              <a:buNone/>
            </a:pPr>
            <a:r>
              <a:rPr lang="en-US" sz="900" i="1" dirty="0">
                <a:solidFill>
                  <a:srgbClr val="6E8990"/>
                </a:solidFill>
                <a:latin typeface="Calibri" pitchFamily="34" charset="0"/>
                <a:ea typeface="Calibri" pitchFamily="34" charset="-122"/>
                <a:cs typeface="Calibri" pitchFamily="34" charset="-120"/>
              </a:rPr>
              <a:t>Source: Verizon 2025 Data Breach Investigations Report</a:t>
            </a:r>
            <a:endParaRPr lang="en-US" sz="900" dirty="0"/>
          </a:p>
        </p:txBody>
      </p:sp>
      <p:sp>
        <p:nvSpPr>
          <p:cNvPr id="13" name="Text 11"/>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14" name="Text 12"/>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F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KNOW THE VARIANTS</a:t>
            </a:r>
            <a:endParaRPr lang="en-US" sz="1300" dirty="0"/>
          </a:p>
        </p:txBody>
      </p:sp>
      <p:sp>
        <p:nvSpPr>
          <p:cNvPr id="3" name="Text 1"/>
          <p:cNvSpPr/>
          <p:nvPr/>
        </p:nvSpPr>
        <p:spPr>
          <a:xfrm>
            <a:off x="594360" y="822960"/>
            <a:ext cx="9144000" cy="731520"/>
          </a:xfrm>
          <a:prstGeom prst="rect">
            <a:avLst/>
          </a:prstGeom>
          <a:noFill/>
          <a:ln/>
        </p:spPr>
        <p:txBody>
          <a:bodyPr wrap="square" rtlCol="0" anchor="ctr"/>
          <a:lstStyle/>
          <a:p>
            <a:pPr marL="0" indent="0">
              <a:buNone/>
            </a:pPr>
            <a:r>
              <a:rPr lang="en-US" sz="3000" b="1" dirty="0">
                <a:solidFill>
                  <a:srgbClr val="0B1F2A"/>
                </a:solidFill>
                <a:latin typeface="Cambria" pitchFamily="34" charset="0"/>
                <a:ea typeface="Cambria" pitchFamily="34" charset="-122"/>
                <a:cs typeface="Cambria" pitchFamily="34" charset="-120"/>
              </a:rPr>
              <a:t>Phishing Comes in Several Flavors</a:t>
            </a:r>
            <a:endParaRPr lang="en-US" sz="3000" dirty="0"/>
          </a:p>
        </p:txBody>
      </p:sp>
      <p:sp>
        <p:nvSpPr>
          <p:cNvPr id="4" name="Shape 2"/>
          <p:cNvSpPr/>
          <p:nvPr/>
        </p:nvSpPr>
        <p:spPr>
          <a:xfrm>
            <a:off x="640080" y="1874520"/>
            <a:ext cx="3566160" cy="1965960"/>
          </a:xfrm>
          <a:prstGeom prst="roundRect">
            <a:avLst>
              <a:gd name="adj" fmla="val 4651"/>
            </a:avLst>
          </a:prstGeom>
          <a:solidFill>
            <a:srgbClr val="FFFFFF"/>
          </a:solidFill>
          <a:ln w="12700">
            <a:solidFill>
              <a:srgbClr val="E1EAEA"/>
            </a:solidFill>
            <a:prstDash val="solid"/>
          </a:ln>
          <a:effectLst>
            <a:outerShdw blurRad="76200" dist="25400" dir="5400000" algn="bl" rotWithShape="0">
              <a:srgbClr val="5B6C70">
                <a:alpha val="18000"/>
              </a:srgbClr>
            </a:outerShdw>
          </a:effectLst>
        </p:spPr>
      </p:sp>
      <p:sp>
        <p:nvSpPr>
          <p:cNvPr id="5" name="Shape 3"/>
          <p:cNvSpPr/>
          <p:nvPr/>
        </p:nvSpPr>
        <p:spPr>
          <a:xfrm>
            <a:off x="868680" y="2103120"/>
            <a:ext cx="502920" cy="502920"/>
          </a:xfrm>
          <a:prstGeom prst="ellipse">
            <a:avLst/>
          </a:prstGeom>
          <a:solidFill>
            <a:srgbClr val="028090"/>
          </a:solidFill>
          <a:ln/>
        </p:spPr>
      </p:sp>
      <p:pic>
        <p:nvPicPr>
          <p:cNvPr id="6" name="Image 0" descr="/home/claude/phishing/icon_mail_white.png"/>
          <p:cNvPicPr>
            <a:picLocks noChangeAspect="1"/>
          </p:cNvPicPr>
          <p:nvPr/>
        </p:nvPicPr>
        <p:blipFill>
          <a:blip r:embed="rId3"/>
          <a:stretch>
            <a:fillRect/>
          </a:stretch>
        </p:blipFill>
        <p:spPr>
          <a:xfrm>
            <a:off x="999439" y="2233879"/>
            <a:ext cx="241402" cy="241402"/>
          </a:xfrm>
          <a:prstGeom prst="rect">
            <a:avLst/>
          </a:prstGeom>
        </p:spPr>
      </p:pic>
      <p:sp>
        <p:nvSpPr>
          <p:cNvPr id="7" name="Text 4"/>
          <p:cNvSpPr/>
          <p:nvPr/>
        </p:nvSpPr>
        <p:spPr>
          <a:xfrm>
            <a:off x="868680" y="2743200"/>
            <a:ext cx="3108960" cy="320040"/>
          </a:xfrm>
          <a:prstGeom prst="rect">
            <a:avLst/>
          </a:prstGeom>
          <a:noFill/>
          <a:ln/>
        </p:spPr>
        <p:txBody>
          <a:bodyPr wrap="square" rtlCol="0" anchor="ctr"/>
          <a:lstStyle/>
          <a:p>
            <a:pPr marL="0" indent="0">
              <a:buNone/>
            </a:pPr>
            <a:r>
              <a:rPr lang="en-US" sz="1400" b="1" dirty="0">
                <a:solidFill>
                  <a:srgbClr val="1B2B2E"/>
                </a:solidFill>
                <a:latin typeface="Calibri" pitchFamily="34" charset="0"/>
                <a:ea typeface="Calibri" pitchFamily="34" charset="-122"/>
                <a:cs typeface="Calibri" pitchFamily="34" charset="-120"/>
              </a:rPr>
              <a:t>Email Phishing</a:t>
            </a:r>
            <a:endParaRPr lang="en-US" sz="1400" dirty="0"/>
          </a:p>
        </p:txBody>
      </p:sp>
      <p:sp>
        <p:nvSpPr>
          <p:cNvPr id="8" name="Text 5"/>
          <p:cNvSpPr/>
          <p:nvPr/>
        </p:nvSpPr>
        <p:spPr>
          <a:xfrm>
            <a:off x="868680" y="3044952"/>
            <a:ext cx="3108960" cy="731520"/>
          </a:xfrm>
          <a:prstGeom prst="rect">
            <a:avLst/>
          </a:prstGeom>
          <a:noFill/>
          <a:ln/>
        </p:spPr>
        <p:txBody>
          <a:bodyPr wrap="square" rtlCol="0" anchor="ctr"/>
          <a:lstStyle/>
          <a:p>
            <a:pPr marL="0" indent="0">
              <a:lnSpc>
                <a:spcPct val="120000"/>
              </a:lnSpc>
              <a:buNone/>
            </a:pPr>
            <a:r>
              <a:rPr lang="en-US" sz="1050" dirty="0">
                <a:solidFill>
                  <a:srgbClr val="5B6C70"/>
                </a:solidFill>
                <a:latin typeface="Calibri" pitchFamily="34" charset="0"/>
                <a:ea typeface="Calibri" pitchFamily="34" charset="-122"/>
                <a:cs typeface="Calibri" pitchFamily="34" charset="-120"/>
              </a:rPr>
              <a:t>Mass emails impersonating a known brand, sent to thousands of people hoping a few take the bait.</a:t>
            </a:r>
            <a:endParaRPr lang="en-US" sz="1050" dirty="0"/>
          </a:p>
        </p:txBody>
      </p:sp>
      <p:sp>
        <p:nvSpPr>
          <p:cNvPr id="9" name="Shape 6"/>
          <p:cNvSpPr/>
          <p:nvPr/>
        </p:nvSpPr>
        <p:spPr>
          <a:xfrm>
            <a:off x="4434840" y="1874520"/>
            <a:ext cx="3566160" cy="1965960"/>
          </a:xfrm>
          <a:prstGeom prst="roundRect">
            <a:avLst>
              <a:gd name="adj" fmla="val 4651"/>
            </a:avLst>
          </a:prstGeom>
          <a:solidFill>
            <a:srgbClr val="FFFFFF"/>
          </a:solidFill>
          <a:ln w="12700">
            <a:solidFill>
              <a:srgbClr val="E1EAEA"/>
            </a:solidFill>
            <a:prstDash val="solid"/>
          </a:ln>
          <a:effectLst>
            <a:outerShdw blurRad="76200" dist="25400" dir="5400000" algn="bl" rotWithShape="0">
              <a:srgbClr val="5B6C70">
                <a:alpha val="18000"/>
              </a:srgbClr>
            </a:outerShdw>
          </a:effectLst>
        </p:spPr>
      </p:sp>
      <p:sp>
        <p:nvSpPr>
          <p:cNvPr id="10" name="Shape 7"/>
          <p:cNvSpPr/>
          <p:nvPr/>
        </p:nvSpPr>
        <p:spPr>
          <a:xfrm>
            <a:off x="4663440" y="2103120"/>
            <a:ext cx="502920" cy="502920"/>
          </a:xfrm>
          <a:prstGeom prst="ellipse">
            <a:avLst/>
          </a:prstGeom>
          <a:solidFill>
            <a:srgbClr val="028090"/>
          </a:solidFill>
          <a:ln/>
        </p:spPr>
      </p:sp>
      <p:pic>
        <p:nvPicPr>
          <p:cNvPr id="11" name="Image 1" descr="/home/claude/phishing/icon_target_white.png"/>
          <p:cNvPicPr>
            <a:picLocks noChangeAspect="1"/>
          </p:cNvPicPr>
          <p:nvPr/>
        </p:nvPicPr>
        <p:blipFill>
          <a:blip r:embed="rId4"/>
          <a:stretch>
            <a:fillRect/>
          </a:stretch>
        </p:blipFill>
        <p:spPr>
          <a:xfrm>
            <a:off x="4794199" y="2233879"/>
            <a:ext cx="241402" cy="241402"/>
          </a:xfrm>
          <a:prstGeom prst="rect">
            <a:avLst/>
          </a:prstGeom>
        </p:spPr>
      </p:pic>
      <p:sp>
        <p:nvSpPr>
          <p:cNvPr id="12" name="Text 8"/>
          <p:cNvSpPr/>
          <p:nvPr/>
        </p:nvSpPr>
        <p:spPr>
          <a:xfrm>
            <a:off x="4663440" y="2743200"/>
            <a:ext cx="3108960" cy="320040"/>
          </a:xfrm>
          <a:prstGeom prst="rect">
            <a:avLst/>
          </a:prstGeom>
          <a:noFill/>
          <a:ln/>
        </p:spPr>
        <p:txBody>
          <a:bodyPr wrap="square" rtlCol="0" anchor="ctr"/>
          <a:lstStyle/>
          <a:p>
            <a:pPr marL="0" indent="0">
              <a:buNone/>
            </a:pPr>
            <a:r>
              <a:rPr lang="en-US" sz="1400" b="1" dirty="0">
                <a:solidFill>
                  <a:srgbClr val="1B2B2E"/>
                </a:solidFill>
                <a:latin typeface="Calibri" pitchFamily="34" charset="0"/>
                <a:ea typeface="Calibri" pitchFamily="34" charset="-122"/>
                <a:cs typeface="Calibri" pitchFamily="34" charset="-120"/>
              </a:rPr>
              <a:t>Spear Phishing</a:t>
            </a:r>
            <a:endParaRPr lang="en-US" sz="1400" dirty="0"/>
          </a:p>
        </p:txBody>
      </p:sp>
      <p:sp>
        <p:nvSpPr>
          <p:cNvPr id="13" name="Text 9"/>
          <p:cNvSpPr/>
          <p:nvPr/>
        </p:nvSpPr>
        <p:spPr>
          <a:xfrm>
            <a:off x="4663440" y="3044952"/>
            <a:ext cx="3108960" cy="731520"/>
          </a:xfrm>
          <a:prstGeom prst="rect">
            <a:avLst/>
          </a:prstGeom>
          <a:noFill/>
          <a:ln/>
        </p:spPr>
        <p:txBody>
          <a:bodyPr wrap="square" rtlCol="0" anchor="ctr"/>
          <a:lstStyle/>
          <a:p>
            <a:pPr marL="0" indent="0">
              <a:lnSpc>
                <a:spcPct val="120000"/>
              </a:lnSpc>
              <a:buNone/>
            </a:pPr>
            <a:r>
              <a:rPr lang="en-US" sz="1050" dirty="0">
                <a:solidFill>
                  <a:srgbClr val="5B6C70"/>
                </a:solidFill>
                <a:latin typeface="Calibri" pitchFamily="34" charset="0"/>
                <a:ea typeface="Calibri" pitchFamily="34" charset="-122"/>
                <a:cs typeface="Calibri" pitchFamily="34" charset="-120"/>
              </a:rPr>
              <a:t>A targeted email personalized with your name, role, or a real project to feel legitimate.</a:t>
            </a:r>
            <a:endParaRPr lang="en-US" sz="1050" dirty="0"/>
          </a:p>
        </p:txBody>
      </p:sp>
      <p:sp>
        <p:nvSpPr>
          <p:cNvPr id="14" name="Shape 10"/>
          <p:cNvSpPr/>
          <p:nvPr/>
        </p:nvSpPr>
        <p:spPr>
          <a:xfrm>
            <a:off x="8229600" y="1874520"/>
            <a:ext cx="3566160" cy="1965960"/>
          </a:xfrm>
          <a:prstGeom prst="roundRect">
            <a:avLst>
              <a:gd name="adj" fmla="val 4651"/>
            </a:avLst>
          </a:prstGeom>
          <a:solidFill>
            <a:srgbClr val="FFFFFF"/>
          </a:solidFill>
          <a:ln w="12700">
            <a:solidFill>
              <a:srgbClr val="E1EAEA"/>
            </a:solidFill>
            <a:prstDash val="solid"/>
          </a:ln>
          <a:effectLst>
            <a:outerShdw blurRad="76200" dist="25400" dir="5400000" algn="bl" rotWithShape="0">
              <a:srgbClr val="5B6C70">
                <a:alpha val="18000"/>
              </a:srgbClr>
            </a:outerShdw>
          </a:effectLst>
        </p:spPr>
      </p:sp>
      <p:sp>
        <p:nvSpPr>
          <p:cNvPr id="15" name="Shape 11"/>
          <p:cNvSpPr/>
          <p:nvPr/>
        </p:nvSpPr>
        <p:spPr>
          <a:xfrm>
            <a:off x="8458200" y="2103120"/>
            <a:ext cx="502920" cy="502920"/>
          </a:xfrm>
          <a:prstGeom prst="ellipse">
            <a:avLst/>
          </a:prstGeom>
          <a:solidFill>
            <a:srgbClr val="028090"/>
          </a:solidFill>
          <a:ln/>
        </p:spPr>
      </p:sp>
      <p:pic>
        <p:nvPicPr>
          <p:cNvPr id="16" name="Image 2" descr="/home/claude/phishing/icon_userCheck_white.png"/>
          <p:cNvPicPr>
            <a:picLocks noChangeAspect="1"/>
          </p:cNvPicPr>
          <p:nvPr/>
        </p:nvPicPr>
        <p:blipFill>
          <a:blip r:embed="rId5"/>
          <a:stretch>
            <a:fillRect/>
          </a:stretch>
        </p:blipFill>
        <p:spPr>
          <a:xfrm>
            <a:off x="8588959" y="2233879"/>
            <a:ext cx="241402" cy="241402"/>
          </a:xfrm>
          <a:prstGeom prst="rect">
            <a:avLst/>
          </a:prstGeom>
        </p:spPr>
      </p:pic>
      <p:sp>
        <p:nvSpPr>
          <p:cNvPr id="17" name="Text 12"/>
          <p:cNvSpPr/>
          <p:nvPr/>
        </p:nvSpPr>
        <p:spPr>
          <a:xfrm>
            <a:off x="8458200" y="2743200"/>
            <a:ext cx="3108960" cy="320040"/>
          </a:xfrm>
          <a:prstGeom prst="rect">
            <a:avLst/>
          </a:prstGeom>
          <a:noFill/>
          <a:ln/>
        </p:spPr>
        <p:txBody>
          <a:bodyPr wrap="square" rtlCol="0" anchor="ctr"/>
          <a:lstStyle/>
          <a:p>
            <a:pPr marL="0" indent="0">
              <a:buNone/>
            </a:pPr>
            <a:r>
              <a:rPr lang="en-US" sz="1400" b="1" dirty="0">
                <a:solidFill>
                  <a:srgbClr val="1B2B2E"/>
                </a:solidFill>
                <a:latin typeface="Calibri" pitchFamily="34" charset="0"/>
                <a:ea typeface="Calibri" pitchFamily="34" charset="-122"/>
                <a:cs typeface="Calibri" pitchFamily="34" charset="-120"/>
              </a:rPr>
              <a:t>Whaling</a:t>
            </a:r>
            <a:endParaRPr lang="en-US" sz="1400" dirty="0"/>
          </a:p>
        </p:txBody>
      </p:sp>
      <p:sp>
        <p:nvSpPr>
          <p:cNvPr id="18" name="Text 13"/>
          <p:cNvSpPr/>
          <p:nvPr/>
        </p:nvSpPr>
        <p:spPr>
          <a:xfrm>
            <a:off x="8458200" y="3044952"/>
            <a:ext cx="3108960" cy="731520"/>
          </a:xfrm>
          <a:prstGeom prst="rect">
            <a:avLst/>
          </a:prstGeom>
          <a:noFill/>
          <a:ln/>
        </p:spPr>
        <p:txBody>
          <a:bodyPr wrap="square" rtlCol="0" anchor="ctr"/>
          <a:lstStyle/>
          <a:p>
            <a:pPr marL="0" indent="0">
              <a:lnSpc>
                <a:spcPct val="120000"/>
              </a:lnSpc>
              <a:buNone/>
            </a:pPr>
            <a:r>
              <a:rPr lang="en-US" sz="1050" dirty="0">
                <a:solidFill>
                  <a:srgbClr val="5B6C70"/>
                </a:solidFill>
                <a:latin typeface="Calibri" pitchFamily="34" charset="0"/>
                <a:ea typeface="Calibri" pitchFamily="34" charset="-122"/>
                <a:cs typeface="Calibri" pitchFamily="34" charset="-120"/>
              </a:rPr>
              <a:t>Spear phishing aimed at executives, often faking urgent requests from a CEO or CFO.</a:t>
            </a:r>
            <a:endParaRPr lang="en-US" sz="1050" dirty="0"/>
          </a:p>
        </p:txBody>
      </p:sp>
      <p:sp>
        <p:nvSpPr>
          <p:cNvPr id="19" name="Shape 14"/>
          <p:cNvSpPr/>
          <p:nvPr/>
        </p:nvSpPr>
        <p:spPr>
          <a:xfrm>
            <a:off x="640080" y="4114800"/>
            <a:ext cx="3566160" cy="1965960"/>
          </a:xfrm>
          <a:prstGeom prst="roundRect">
            <a:avLst>
              <a:gd name="adj" fmla="val 4651"/>
            </a:avLst>
          </a:prstGeom>
          <a:solidFill>
            <a:srgbClr val="FFFFFF"/>
          </a:solidFill>
          <a:ln w="12700">
            <a:solidFill>
              <a:srgbClr val="E1EAEA"/>
            </a:solidFill>
            <a:prstDash val="solid"/>
          </a:ln>
          <a:effectLst>
            <a:outerShdw blurRad="76200" dist="25400" dir="5400000" algn="bl" rotWithShape="0">
              <a:srgbClr val="5B6C70">
                <a:alpha val="18000"/>
              </a:srgbClr>
            </a:outerShdw>
          </a:effectLst>
        </p:spPr>
      </p:sp>
      <p:sp>
        <p:nvSpPr>
          <p:cNvPr id="20" name="Shape 15"/>
          <p:cNvSpPr/>
          <p:nvPr/>
        </p:nvSpPr>
        <p:spPr>
          <a:xfrm>
            <a:off x="868680" y="4343400"/>
            <a:ext cx="502920" cy="502920"/>
          </a:xfrm>
          <a:prstGeom prst="ellipse">
            <a:avLst/>
          </a:prstGeom>
          <a:solidFill>
            <a:srgbClr val="028090"/>
          </a:solidFill>
          <a:ln/>
        </p:spPr>
      </p:sp>
      <p:pic>
        <p:nvPicPr>
          <p:cNvPr id="21" name="Image 3" descr="/home/claude/phishing/icon_phone_white.png"/>
          <p:cNvPicPr>
            <a:picLocks noChangeAspect="1"/>
          </p:cNvPicPr>
          <p:nvPr/>
        </p:nvPicPr>
        <p:blipFill>
          <a:blip r:embed="rId6"/>
          <a:stretch>
            <a:fillRect/>
          </a:stretch>
        </p:blipFill>
        <p:spPr>
          <a:xfrm>
            <a:off x="999439" y="4474159"/>
            <a:ext cx="241402" cy="241402"/>
          </a:xfrm>
          <a:prstGeom prst="rect">
            <a:avLst/>
          </a:prstGeom>
        </p:spPr>
      </p:pic>
      <p:sp>
        <p:nvSpPr>
          <p:cNvPr id="22" name="Text 16"/>
          <p:cNvSpPr/>
          <p:nvPr/>
        </p:nvSpPr>
        <p:spPr>
          <a:xfrm>
            <a:off x="868680" y="4983480"/>
            <a:ext cx="3108960" cy="320040"/>
          </a:xfrm>
          <a:prstGeom prst="rect">
            <a:avLst/>
          </a:prstGeom>
          <a:noFill/>
          <a:ln/>
        </p:spPr>
        <p:txBody>
          <a:bodyPr wrap="square" rtlCol="0" anchor="ctr"/>
          <a:lstStyle/>
          <a:p>
            <a:pPr marL="0" indent="0">
              <a:buNone/>
            </a:pPr>
            <a:r>
              <a:rPr lang="en-US" sz="1400" b="1" dirty="0">
                <a:solidFill>
                  <a:srgbClr val="1B2B2E"/>
                </a:solidFill>
                <a:latin typeface="Calibri" pitchFamily="34" charset="0"/>
                <a:ea typeface="Calibri" pitchFamily="34" charset="-122"/>
                <a:cs typeface="Calibri" pitchFamily="34" charset="-120"/>
              </a:rPr>
              <a:t>Vishing</a:t>
            </a:r>
            <a:endParaRPr lang="en-US" sz="1400" dirty="0"/>
          </a:p>
        </p:txBody>
      </p:sp>
      <p:sp>
        <p:nvSpPr>
          <p:cNvPr id="23" name="Text 17"/>
          <p:cNvSpPr/>
          <p:nvPr/>
        </p:nvSpPr>
        <p:spPr>
          <a:xfrm>
            <a:off x="868680" y="5285232"/>
            <a:ext cx="3108960" cy="731520"/>
          </a:xfrm>
          <a:prstGeom prst="rect">
            <a:avLst/>
          </a:prstGeom>
          <a:noFill/>
          <a:ln/>
        </p:spPr>
        <p:txBody>
          <a:bodyPr wrap="square" rtlCol="0" anchor="ctr"/>
          <a:lstStyle/>
          <a:p>
            <a:pPr marL="0" indent="0">
              <a:lnSpc>
                <a:spcPct val="120000"/>
              </a:lnSpc>
              <a:buNone/>
            </a:pPr>
            <a:r>
              <a:rPr lang="en-US" sz="1050" dirty="0">
                <a:solidFill>
                  <a:srgbClr val="5B6C70"/>
                </a:solidFill>
                <a:latin typeface="Calibri" pitchFamily="34" charset="0"/>
                <a:ea typeface="Calibri" pitchFamily="34" charset="-122"/>
                <a:cs typeface="Calibri" pitchFamily="34" charset="-120"/>
              </a:rPr>
              <a:t>A phone call from someone posing as IT, a bank, or law enforcement to extract information.</a:t>
            </a:r>
            <a:endParaRPr lang="en-US" sz="1050" dirty="0"/>
          </a:p>
        </p:txBody>
      </p:sp>
      <p:sp>
        <p:nvSpPr>
          <p:cNvPr id="24" name="Shape 18"/>
          <p:cNvSpPr/>
          <p:nvPr/>
        </p:nvSpPr>
        <p:spPr>
          <a:xfrm>
            <a:off x="4434840" y="4114800"/>
            <a:ext cx="3566160" cy="1965960"/>
          </a:xfrm>
          <a:prstGeom prst="roundRect">
            <a:avLst>
              <a:gd name="adj" fmla="val 4651"/>
            </a:avLst>
          </a:prstGeom>
          <a:solidFill>
            <a:srgbClr val="FFFFFF"/>
          </a:solidFill>
          <a:ln w="12700">
            <a:solidFill>
              <a:srgbClr val="E1EAEA"/>
            </a:solidFill>
            <a:prstDash val="solid"/>
          </a:ln>
          <a:effectLst>
            <a:outerShdw blurRad="76200" dist="25400" dir="5400000" algn="bl" rotWithShape="0">
              <a:srgbClr val="5B6C70">
                <a:alpha val="18000"/>
              </a:srgbClr>
            </a:outerShdw>
          </a:effectLst>
        </p:spPr>
      </p:sp>
      <p:sp>
        <p:nvSpPr>
          <p:cNvPr id="25" name="Shape 19"/>
          <p:cNvSpPr/>
          <p:nvPr/>
        </p:nvSpPr>
        <p:spPr>
          <a:xfrm>
            <a:off x="4663440" y="4343400"/>
            <a:ext cx="502920" cy="502920"/>
          </a:xfrm>
          <a:prstGeom prst="ellipse">
            <a:avLst/>
          </a:prstGeom>
          <a:solidFill>
            <a:srgbClr val="028090"/>
          </a:solidFill>
          <a:ln/>
        </p:spPr>
      </p:sp>
      <p:pic>
        <p:nvPicPr>
          <p:cNvPr id="26" name="Image 4" descr="/home/claude/phishing/icon_help_white.png"/>
          <p:cNvPicPr>
            <a:picLocks noChangeAspect="1"/>
          </p:cNvPicPr>
          <p:nvPr/>
        </p:nvPicPr>
        <p:blipFill>
          <a:blip r:embed="rId4"/>
          <a:stretch>
            <a:fillRect/>
          </a:stretch>
        </p:blipFill>
        <p:spPr>
          <a:xfrm>
            <a:off x="4794199" y="4474159"/>
            <a:ext cx="241402" cy="241402"/>
          </a:xfrm>
          <a:prstGeom prst="rect">
            <a:avLst/>
          </a:prstGeom>
        </p:spPr>
      </p:pic>
      <p:sp>
        <p:nvSpPr>
          <p:cNvPr id="27" name="Text 20"/>
          <p:cNvSpPr/>
          <p:nvPr/>
        </p:nvSpPr>
        <p:spPr>
          <a:xfrm>
            <a:off x="4663440" y="4983480"/>
            <a:ext cx="3108960" cy="320040"/>
          </a:xfrm>
          <a:prstGeom prst="rect">
            <a:avLst/>
          </a:prstGeom>
          <a:noFill/>
          <a:ln/>
        </p:spPr>
        <p:txBody>
          <a:bodyPr wrap="square" rtlCol="0" anchor="ctr"/>
          <a:lstStyle/>
          <a:p>
            <a:pPr marL="0" indent="0">
              <a:buNone/>
            </a:pPr>
            <a:r>
              <a:rPr lang="en-US" sz="1400" b="1" dirty="0">
                <a:solidFill>
                  <a:srgbClr val="1B2B2E"/>
                </a:solidFill>
                <a:latin typeface="Calibri" pitchFamily="34" charset="0"/>
                <a:ea typeface="Calibri" pitchFamily="34" charset="-122"/>
                <a:cs typeface="Calibri" pitchFamily="34" charset="-120"/>
              </a:rPr>
              <a:t>Smishing</a:t>
            </a:r>
            <a:endParaRPr lang="en-US" sz="1400" dirty="0"/>
          </a:p>
        </p:txBody>
      </p:sp>
      <p:sp>
        <p:nvSpPr>
          <p:cNvPr id="28" name="Text 21"/>
          <p:cNvSpPr/>
          <p:nvPr/>
        </p:nvSpPr>
        <p:spPr>
          <a:xfrm>
            <a:off x="4663440" y="5285232"/>
            <a:ext cx="3108960" cy="731520"/>
          </a:xfrm>
          <a:prstGeom prst="rect">
            <a:avLst/>
          </a:prstGeom>
          <a:noFill/>
          <a:ln/>
        </p:spPr>
        <p:txBody>
          <a:bodyPr wrap="square" rtlCol="0" anchor="ctr"/>
          <a:lstStyle/>
          <a:p>
            <a:pPr marL="0" indent="0">
              <a:lnSpc>
                <a:spcPct val="120000"/>
              </a:lnSpc>
              <a:buNone/>
            </a:pPr>
            <a:r>
              <a:rPr lang="en-US" sz="1050" dirty="0">
                <a:solidFill>
                  <a:srgbClr val="5B6C70"/>
                </a:solidFill>
                <a:latin typeface="Calibri" pitchFamily="34" charset="0"/>
                <a:ea typeface="Calibri" pitchFamily="34" charset="-122"/>
                <a:cs typeface="Calibri" pitchFamily="34" charset="-120"/>
              </a:rPr>
              <a:t>A text message with a malicious link, often about a 'package' or 'account' issue.</a:t>
            </a:r>
            <a:endParaRPr lang="en-US" sz="1050" dirty="0"/>
          </a:p>
        </p:txBody>
      </p:sp>
      <p:sp>
        <p:nvSpPr>
          <p:cNvPr id="29" name="Shape 22"/>
          <p:cNvSpPr/>
          <p:nvPr/>
        </p:nvSpPr>
        <p:spPr>
          <a:xfrm>
            <a:off x="8229600" y="4114800"/>
            <a:ext cx="3566160" cy="1965960"/>
          </a:xfrm>
          <a:prstGeom prst="roundRect">
            <a:avLst>
              <a:gd name="adj" fmla="val 4651"/>
            </a:avLst>
          </a:prstGeom>
          <a:solidFill>
            <a:srgbClr val="FFFFFF"/>
          </a:solidFill>
          <a:ln w="12700">
            <a:solidFill>
              <a:srgbClr val="E1EAEA"/>
            </a:solidFill>
            <a:prstDash val="solid"/>
          </a:ln>
          <a:effectLst>
            <a:outerShdw blurRad="76200" dist="25400" dir="5400000" algn="bl" rotWithShape="0">
              <a:srgbClr val="5B6C70">
                <a:alpha val="18000"/>
              </a:srgbClr>
            </a:outerShdw>
          </a:effectLst>
        </p:spPr>
      </p:sp>
      <p:sp>
        <p:nvSpPr>
          <p:cNvPr id="30" name="Shape 23"/>
          <p:cNvSpPr/>
          <p:nvPr/>
        </p:nvSpPr>
        <p:spPr>
          <a:xfrm>
            <a:off x="8458200" y="4343400"/>
            <a:ext cx="502920" cy="502920"/>
          </a:xfrm>
          <a:prstGeom prst="ellipse">
            <a:avLst/>
          </a:prstGeom>
          <a:solidFill>
            <a:srgbClr val="028090"/>
          </a:solidFill>
          <a:ln/>
        </p:spPr>
      </p:sp>
      <p:pic>
        <p:nvPicPr>
          <p:cNvPr id="31" name="Image 5" descr="/home/claude/phishing/icon_link_white.png"/>
          <p:cNvPicPr>
            <a:picLocks noChangeAspect="1"/>
          </p:cNvPicPr>
          <p:nvPr/>
        </p:nvPicPr>
        <p:blipFill>
          <a:blip r:embed="rId7"/>
          <a:stretch>
            <a:fillRect/>
          </a:stretch>
        </p:blipFill>
        <p:spPr>
          <a:xfrm>
            <a:off x="8588959" y="4474159"/>
            <a:ext cx="241402" cy="241402"/>
          </a:xfrm>
          <a:prstGeom prst="rect">
            <a:avLst/>
          </a:prstGeom>
        </p:spPr>
      </p:pic>
      <p:sp>
        <p:nvSpPr>
          <p:cNvPr id="32" name="Text 24"/>
          <p:cNvSpPr/>
          <p:nvPr/>
        </p:nvSpPr>
        <p:spPr>
          <a:xfrm>
            <a:off x="8458200" y="4983480"/>
            <a:ext cx="3108960" cy="320040"/>
          </a:xfrm>
          <a:prstGeom prst="rect">
            <a:avLst/>
          </a:prstGeom>
          <a:noFill/>
          <a:ln/>
        </p:spPr>
        <p:txBody>
          <a:bodyPr wrap="square" rtlCol="0" anchor="ctr"/>
          <a:lstStyle/>
          <a:p>
            <a:pPr marL="0" indent="0">
              <a:buNone/>
            </a:pPr>
            <a:r>
              <a:rPr lang="en-US" sz="1400" b="1" dirty="0">
                <a:solidFill>
                  <a:srgbClr val="1B2B2E"/>
                </a:solidFill>
                <a:latin typeface="Calibri" pitchFamily="34" charset="0"/>
                <a:ea typeface="Calibri" pitchFamily="34" charset="-122"/>
                <a:cs typeface="Calibri" pitchFamily="34" charset="-120"/>
              </a:rPr>
              <a:t>Clone Phishing</a:t>
            </a:r>
            <a:endParaRPr lang="en-US" sz="1400" dirty="0"/>
          </a:p>
        </p:txBody>
      </p:sp>
      <p:sp>
        <p:nvSpPr>
          <p:cNvPr id="33" name="Text 25"/>
          <p:cNvSpPr/>
          <p:nvPr/>
        </p:nvSpPr>
        <p:spPr>
          <a:xfrm>
            <a:off x="8458200" y="5285232"/>
            <a:ext cx="3108960" cy="731520"/>
          </a:xfrm>
          <a:prstGeom prst="rect">
            <a:avLst/>
          </a:prstGeom>
          <a:noFill/>
          <a:ln/>
        </p:spPr>
        <p:txBody>
          <a:bodyPr wrap="square" rtlCol="0" anchor="ctr"/>
          <a:lstStyle/>
          <a:p>
            <a:pPr marL="0" indent="0">
              <a:lnSpc>
                <a:spcPct val="120000"/>
              </a:lnSpc>
              <a:buNone/>
            </a:pPr>
            <a:r>
              <a:rPr lang="en-US" sz="1050" dirty="0">
                <a:solidFill>
                  <a:srgbClr val="5B6C70"/>
                </a:solidFill>
                <a:latin typeface="Calibri" pitchFamily="34" charset="0"/>
                <a:ea typeface="Calibri" pitchFamily="34" charset="-122"/>
                <a:cs typeface="Calibri" pitchFamily="34" charset="-120"/>
              </a:rPr>
              <a:t>A copy of a real, previously-sent email with the link or attachment swapped for a malicious one.</a:t>
            </a:r>
            <a:endParaRPr lang="en-US" sz="1050" dirty="0"/>
          </a:p>
        </p:txBody>
      </p:sp>
      <p:sp>
        <p:nvSpPr>
          <p:cNvPr id="34" name="Text 26"/>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35" name="Text 27"/>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READ BEFORE YOU CLICK</a:t>
            </a:r>
            <a:endParaRPr lang="en-US" sz="1300" dirty="0"/>
          </a:p>
        </p:txBody>
      </p:sp>
      <p:sp>
        <p:nvSpPr>
          <p:cNvPr id="3" name="Text 1"/>
          <p:cNvSpPr/>
          <p:nvPr/>
        </p:nvSpPr>
        <p:spPr>
          <a:xfrm>
            <a:off x="594360" y="777240"/>
            <a:ext cx="7315200" cy="685800"/>
          </a:xfrm>
          <a:prstGeom prst="rect">
            <a:avLst/>
          </a:prstGeom>
          <a:noFill/>
          <a:ln/>
        </p:spPr>
        <p:txBody>
          <a:bodyPr wrap="square" rtlCol="0" anchor="ctr"/>
          <a:lstStyle/>
          <a:p>
            <a:pPr marL="0" indent="0">
              <a:buNone/>
            </a:pPr>
            <a:r>
              <a:rPr lang="en-US" sz="3000" b="1" dirty="0">
                <a:solidFill>
                  <a:srgbClr val="0B1F2A"/>
                </a:solidFill>
                <a:latin typeface="Cambria" pitchFamily="34" charset="0"/>
                <a:ea typeface="Cambria" pitchFamily="34" charset="-122"/>
                <a:cs typeface="Cambria" pitchFamily="34" charset="-120"/>
              </a:rPr>
              <a:t>Anatomy of a Phishing Email</a:t>
            </a:r>
            <a:endParaRPr lang="en-US" sz="3000" dirty="0"/>
          </a:p>
        </p:txBody>
      </p:sp>
      <p:sp>
        <p:nvSpPr>
          <p:cNvPr id="4" name="Shape 2"/>
          <p:cNvSpPr/>
          <p:nvPr/>
        </p:nvSpPr>
        <p:spPr>
          <a:xfrm>
            <a:off x="640080" y="1691640"/>
            <a:ext cx="6035040" cy="4480560"/>
          </a:xfrm>
          <a:prstGeom prst="roundRect">
            <a:avLst>
              <a:gd name="adj" fmla="val 1633"/>
            </a:avLst>
          </a:prstGeom>
          <a:solidFill>
            <a:srgbClr val="F6FAFA"/>
          </a:solidFill>
          <a:ln w="12700">
            <a:solidFill>
              <a:srgbClr val="D7E3E3"/>
            </a:solidFill>
            <a:prstDash val="solid"/>
          </a:ln>
        </p:spPr>
      </p:sp>
      <p:sp>
        <p:nvSpPr>
          <p:cNvPr id="5" name="Shape 3"/>
          <p:cNvSpPr/>
          <p:nvPr/>
        </p:nvSpPr>
        <p:spPr>
          <a:xfrm>
            <a:off x="640080" y="1691640"/>
            <a:ext cx="6035040" cy="457200"/>
          </a:xfrm>
          <a:prstGeom prst="rect">
            <a:avLst/>
          </a:prstGeom>
          <a:solidFill>
            <a:srgbClr val="E9F1F1"/>
          </a:solidFill>
          <a:ln/>
        </p:spPr>
      </p:sp>
      <p:sp>
        <p:nvSpPr>
          <p:cNvPr id="6" name="Text 4"/>
          <p:cNvSpPr/>
          <p:nvPr/>
        </p:nvSpPr>
        <p:spPr>
          <a:xfrm>
            <a:off x="822960" y="1783080"/>
            <a:ext cx="914400" cy="274320"/>
          </a:xfrm>
          <a:prstGeom prst="rect">
            <a:avLst/>
          </a:prstGeom>
          <a:noFill/>
          <a:ln/>
        </p:spPr>
        <p:txBody>
          <a:bodyPr wrap="square" rtlCol="0" anchor="ctr"/>
          <a:lstStyle/>
          <a:p>
            <a:pPr marL="0" indent="0">
              <a:buNone/>
            </a:pPr>
            <a:r>
              <a:rPr lang="en-US" sz="1000" dirty="0">
                <a:solidFill>
                  <a:srgbClr val="9AB0B0"/>
                </a:solidFill>
                <a:latin typeface="Calibri" pitchFamily="34" charset="0"/>
                <a:ea typeface="Calibri" pitchFamily="34" charset="-122"/>
                <a:cs typeface="Calibri" pitchFamily="34" charset="-120"/>
              </a:rPr>
              <a:t>● ● ●</a:t>
            </a:r>
            <a:endParaRPr lang="en-US" sz="1000" dirty="0"/>
          </a:p>
        </p:txBody>
      </p:sp>
      <p:sp>
        <p:nvSpPr>
          <p:cNvPr id="7" name="Text 5"/>
          <p:cNvSpPr/>
          <p:nvPr/>
        </p:nvSpPr>
        <p:spPr>
          <a:xfrm>
            <a:off x="914400" y="2331720"/>
            <a:ext cx="5486400" cy="320040"/>
          </a:xfrm>
          <a:prstGeom prst="rect">
            <a:avLst/>
          </a:prstGeom>
          <a:noFill/>
          <a:ln/>
        </p:spPr>
        <p:txBody>
          <a:bodyPr wrap="square" rtlCol="0" anchor="ctr"/>
          <a:lstStyle/>
          <a:p>
            <a:pPr marL="0" indent="0">
              <a:buNone/>
            </a:pPr>
            <a:r>
              <a:rPr lang="en-US" sz="1200" b="1" dirty="0">
                <a:solidFill>
                  <a:srgbClr val="5B6C70"/>
                </a:solidFill>
                <a:latin typeface="Calibri" pitchFamily="34" charset="0"/>
                <a:ea typeface="Calibri" pitchFamily="34" charset="-122"/>
                <a:cs typeface="Calibri" pitchFamily="34" charset="-120"/>
              </a:rPr>
              <a:t>From: </a:t>
            </a:r>
            <a:r>
              <a:rPr lang="en-US" sz="1200" b="1" dirty="0">
                <a:solidFill>
                  <a:srgbClr val="C8443C"/>
                </a:solidFill>
                <a:latin typeface="Calibri" pitchFamily="34" charset="0"/>
                <a:ea typeface="Calibri" pitchFamily="34" charset="-122"/>
                <a:cs typeface="Calibri" pitchFamily="34" charset="-120"/>
              </a:rPr>
              <a:t>IT Support &lt;helpdesk@yourcornpany-it.com&gt;</a:t>
            </a:r>
            <a:endParaRPr lang="en-US" sz="1200" dirty="0"/>
          </a:p>
        </p:txBody>
      </p:sp>
      <p:sp>
        <p:nvSpPr>
          <p:cNvPr id="8" name="Text 6"/>
          <p:cNvSpPr/>
          <p:nvPr/>
        </p:nvSpPr>
        <p:spPr>
          <a:xfrm>
            <a:off x="914400" y="2697480"/>
            <a:ext cx="5486400" cy="320040"/>
          </a:xfrm>
          <a:prstGeom prst="rect">
            <a:avLst/>
          </a:prstGeom>
          <a:noFill/>
          <a:ln/>
        </p:spPr>
        <p:txBody>
          <a:bodyPr wrap="square" rtlCol="0" anchor="ctr"/>
          <a:lstStyle/>
          <a:p>
            <a:pPr marL="0" indent="0">
              <a:buNone/>
            </a:pPr>
            <a:r>
              <a:rPr lang="en-US" sz="1200" b="1" dirty="0">
                <a:solidFill>
                  <a:srgbClr val="5B6C70"/>
                </a:solidFill>
                <a:latin typeface="Calibri" pitchFamily="34" charset="0"/>
                <a:ea typeface="Calibri" pitchFamily="34" charset="-122"/>
                <a:cs typeface="Calibri" pitchFamily="34" charset="-120"/>
              </a:rPr>
              <a:t>Subject: </a:t>
            </a:r>
            <a:r>
              <a:rPr lang="en-US" sz="1200" b="1" dirty="0">
                <a:solidFill>
                  <a:srgbClr val="C8443C"/>
                </a:solidFill>
                <a:latin typeface="Calibri" pitchFamily="34" charset="0"/>
                <a:ea typeface="Calibri" pitchFamily="34" charset="-122"/>
                <a:cs typeface="Calibri" pitchFamily="34" charset="-120"/>
              </a:rPr>
              <a:t>URGENT: Your mailbox will be suspended today</a:t>
            </a:r>
            <a:endParaRPr lang="en-US" sz="1200" dirty="0"/>
          </a:p>
        </p:txBody>
      </p:sp>
      <p:sp>
        <p:nvSpPr>
          <p:cNvPr id="9" name="Text 7"/>
          <p:cNvSpPr/>
          <p:nvPr/>
        </p:nvSpPr>
        <p:spPr>
          <a:xfrm>
            <a:off x="914400" y="3154680"/>
            <a:ext cx="5486400" cy="2377440"/>
          </a:xfrm>
          <a:prstGeom prst="rect">
            <a:avLst/>
          </a:prstGeom>
          <a:noFill/>
          <a:ln/>
        </p:spPr>
        <p:txBody>
          <a:bodyPr wrap="square" rtlCol="0" anchor="ctr"/>
          <a:lstStyle/>
          <a:p>
            <a:pPr marL="0" indent="0">
              <a:lnSpc>
                <a:spcPct val="130000"/>
              </a:lnSpc>
              <a:buNone/>
            </a:pPr>
            <a:r>
              <a:rPr lang="en-US" sz="1200" dirty="0">
                <a:solidFill>
                  <a:srgbClr val="1B2B2E"/>
                </a:solidFill>
                <a:latin typeface="Calibri" pitchFamily="34" charset="0"/>
                <a:ea typeface="Calibri" pitchFamily="34" charset="-122"/>
                <a:cs typeface="Calibri" pitchFamily="34" charset="-120"/>
              </a:rPr>
              <a:t>Dear User,
We detected unusual activity on your account. </a:t>
            </a:r>
            <a:r>
              <a:rPr lang="en-US" sz="1200" b="1" dirty="0">
                <a:solidFill>
                  <a:srgbClr val="C8443C"/>
                </a:solidFill>
                <a:latin typeface="Calibri" pitchFamily="34" charset="0"/>
                <a:ea typeface="Calibri" pitchFamily="34" charset="-122"/>
                <a:cs typeface="Calibri" pitchFamily="34" charset="-120"/>
              </a:rPr>
              <a:t>You must verify your identity within 2 hours or your mailbox will be permanently deleted.</a:t>
            </a:r>
            <a:r>
              <a:rPr lang="en-US" sz="1200" dirty="0">
                <a:solidFill>
                  <a:srgbClr val="1B2B2E"/>
                </a:solidFill>
                <a:latin typeface="Calibri" pitchFamily="34" charset="0"/>
                <a:ea typeface="Calibri" pitchFamily="34" charset="-122"/>
                <a:cs typeface="Calibri" pitchFamily="34" charset="-120"/>
              </a:rPr>
              <a:t>
Click below to confirm your password and avoid disruption:
</a:t>
            </a:r>
            <a:r>
              <a:rPr lang="en-US" sz="1200" b="1" u="sng" dirty="0">
                <a:solidFill>
                  <a:srgbClr val="028090"/>
                </a:solidFill>
                <a:latin typeface="Calibri" pitchFamily="34" charset="0"/>
                <a:ea typeface="Calibri" pitchFamily="34" charset="-122"/>
                <a:cs typeface="Calibri" pitchFamily="34" charset="-120"/>
              </a:rPr>
              <a:t>▸ Verify My Account Now</a:t>
            </a:r>
            <a:endParaRPr lang="en-US" sz="1200" dirty="0"/>
          </a:p>
          <a:p>
            <a:pPr marL="0" indent="0">
              <a:lnSpc>
                <a:spcPct val="130000"/>
              </a:lnSpc>
              <a:buNone/>
            </a:pPr>
            <a:endParaRPr lang="en-US" sz="1200" dirty="0"/>
          </a:p>
          <a:p>
            <a:pPr marL="0" indent="0">
              <a:lnSpc>
                <a:spcPct val="130000"/>
              </a:lnSpc>
              <a:buNone/>
            </a:pPr>
            <a:r>
              <a:rPr lang="en-US" sz="1200" dirty="0">
                <a:solidFill>
                  <a:srgbClr val="1B2B2E"/>
                </a:solidFill>
                <a:latin typeface="Calibri" pitchFamily="34" charset="0"/>
                <a:ea typeface="Calibri" pitchFamily="34" charset="-122"/>
                <a:cs typeface="Calibri" pitchFamily="34" charset="-120"/>
              </a:rPr>
              <a:t>Thank you,</a:t>
            </a:r>
            <a:endParaRPr lang="en-US" sz="1200" dirty="0"/>
          </a:p>
          <a:p>
            <a:pPr marL="0" indent="0">
              <a:lnSpc>
                <a:spcPct val="130000"/>
              </a:lnSpc>
              <a:buNone/>
            </a:pPr>
            <a:r>
              <a:rPr lang="en-US" sz="1200" dirty="0">
                <a:solidFill>
                  <a:srgbClr val="1B2B2E"/>
                </a:solidFill>
                <a:latin typeface="Calibri" pitchFamily="34" charset="0"/>
                <a:ea typeface="Calibri" pitchFamily="34" charset="-122"/>
                <a:cs typeface="Calibri" pitchFamily="34" charset="-120"/>
              </a:rPr>
              <a:t>The IT Helpdesk Team</a:t>
            </a:r>
            <a:endParaRPr lang="en-US" sz="1200" dirty="0"/>
          </a:p>
        </p:txBody>
      </p:sp>
      <p:sp>
        <p:nvSpPr>
          <p:cNvPr id="10" name="Shape 8"/>
          <p:cNvSpPr/>
          <p:nvPr/>
        </p:nvSpPr>
        <p:spPr>
          <a:xfrm>
            <a:off x="7040880" y="1691640"/>
            <a:ext cx="457200" cy="457200"/>
          </a:xfrm>
          <a:prstGeom prst="ellipse">
            <a:avLst/>
          </a:prstGeom>
          <a:solidFill>
            <a:srgbClr val="E8A33D"/>
          </a:solidFill>
          <a:ln/>
        </p:spPr>
      </p:sp>
      <p:pic>
        <p:nvPicPr>
          <p:cNvPr id="11" name="Image 0" descr="/home/claude/phishing/icon_alert_navy.png"/>
          <p:cNvPicPr>
            <a:picLocks noChangeAspect="1"/>
          </p:cNvPicPr>
          <p:nvPr/>
        </p:nvPicPr>
        <p:blipFill>
          <a:blip r:embed="rId3"/>
          <a:stretch>
            <a:fillRect/>
          </a:stretch>
        </p:blipFill>
        <p:spPr>
          <a:xfrm>
            <a:off x="7150608" y="1801368"/>
            <a:ext cx="237744" cy="237744"/>
          </a:xfrm>
          <a:prstGeom prst="rect">
            <a:avLst/>
          </a:prstGeom>
        </p:spPr>
      </p:pic>
      <p:sp>
        <p:nvSpPr>
          <p:cNvPr id="12" name="Text 9"/>
          <p:cNvSpPr/>
          <p:nvPr/>
        </p:nvSpPr>
        <p:spPr>
          <a:xfrm>
            <a:off x="7662672" y="1664208"/>
            <a:ext cx="3840480" cy="320040"/>
          </a:xfrm>
          <a:prstGeom prst="rect">
            <a:avLst/>
          </a:prstGeom>
          <a:noFill/>
          <a:ln/>
        </p:spPr>
        <p:txBody>
          <a:bodyPr wrap="square" rtlCol="0" anchor="ctr"/>
          <a:lstStyle/>
          <a:p>
            <a:pPr marL="0" indent="0">
              <a:buNone/>
            </a:pPr>
            <a:r>
              <a:rPr lang="en-US" sz="1300" b="1" dirty="0">
                <a:solidFill>
                  <a:srgbClr val="1B2B2E"/>
                </a:solidFill>
                <a:latin typeface="Calibri" pitchFamily="34" charset="0"/>
                <a:ea typeface="Calibri" pitchFamily="34" charset="-122"/>
                <a:cs typeface="Calibri" pitchFamily="34" charset="-120"/>
              </a:rPr>
              <a:t>Look-alike domain</a:t>
            </a:r>
            <a:endParaRPr lang="en-US" sz="1300" dirty="0"/>
          </a:p>
        </p:txBody>
      </p:sp>
      <p:sp>
        <p:nvSpPr>
          <p:cNvPr id="13" name="Text 10"/>
          <p:cNvSpPr/>
          <p:nvPr/>
        </p:nvSpPr>
        <p:spPr>
          <a:xfrm>
            <a:off x="7662672" y="1984248"/>
            <a:ext cx="3840480" cy="594360"/>
          </a:xfrm>
          <a:prstGeom prst="rect">
            <a:avLst/>
          </a:prstGeom>
          <a:noFill/>
          <a:ln/>
        </p:spPr>
        <p:txBody>
          <a:bodyPr wrap="square" rtlCol="0" anchor="ctr"/>
          <a:lstStyle/>
          <a:p>
            <a:pPr marL="0" indent="0">
              <a:lnSpc>
                <a:spcPct val="120000"/>
              </a:lnSpc>
              <a:buNone/>
            </a:pPr>
            <a:r>
              <a:rPr lang="en-US" sz="1050" dirty="0">
                <a:solidFill>
                  <a:srgbClr val="5B6C70"/>
                </a:solidFill>
                <a:latin typeface="Calibri" pitchFamily="34" charset="0"/>
                <a:ea typeface="Calibri" pitchFamily="34" charset="-122"/>
                <a:cs typeface="Calibri" pitchFamily="34" charset="-120"/>
              </a:rPr>
              <a:t>The domain swaps letters to mimic the real company domain (“cornpany” vs “company”).</a:t>
            </a:r>
            <a:endParaRPr lang="en-US" sz="1050" dirty="0"/>
          </a:p>
        </p:txBody>
      </p:sp>
      <p:sp>
        <p:nvSpPr>
          <p:cNvPr id="14" name="Shape 11"/>
          <p:cNvSpPr/>
          <p:nvPr/>
        </p:nvSpPr>
        <p:spPr>
          <a:xfrm>
            <a:off x="7040880" y="2697480"/>
            <a:ext cx="457200" cy="457200"/>
          </a:xfrm>
          <a:prstGeom prst="ellipse">
            <a:avLst/>
          </a:prstGeom>
          <a:solidFill>
            <a:srgbClr val="E8A33D"/>
          </a:solidFill>
          <a:ln/>
        </p:spPr>
      </p:sp>
      <p:pic>
        <p:nvPicPr>
          <p:cNvPr id="15" name="Image 1" descr="/home/claude/phishing/icon_clock_navy.png"/>
          <p:cNvPicPr>
            <a:picLocks noChangeAspect="1"/>
          </p:cNvPicPr>
          <p:nvPr/>
        </p:nvPicPr>
        <p:blipFill>
          <a:blip r:embed="rId4"/>
          <a:stretch>
            <a:fillRect/>
          </a:stretch>
        </p:blipFill>
        <p:spPr>
          <a:xfrm>
            <a:off x="7150608" y="2807208"/>
            <a:ext cx="237744" cy="237744"/>
          </a:xfrm>
          <a:prstGeom prst="rect">
            <a:avLst/>
          </a:prstGeom>
        </p:spPr>
      </p:pic>
      <p:sp>
        <p:nvSpPr>
          <p:cNvPr id="16" name="Text 12"/>
          <p:cNvSpPr/>
          <p:nvPr/>
        </p:nvSpPr>
        <p:spPr>
          <a:xfrm>
            <a:off x="7662672" y="2670048"/>
            <a:ext cx="3840480" cy="320040"/>
          </a:xfrm>
          <a:prstGeom prst="rect">
            <a:avLst/>
          </a:prstGeom>
          <a:noFill/>
          <a:ln/>
        </p:spPr>
        <p:txBody>
          <a:bodyPr wrap="square" rtlCol="0" anchor="ctr"/>
          <a:lstStyle/>
          <a:p>
            <a:pPr marL="0" indent="0">
              <a:buNone/>
            </a:pPr>
            <a:r>
              <a:rPr lang="en-US" sz="1300" b="1" dirty="0">
                <a:solidFill>
                  <a:srgbClr val="1B2B2E"/>
                </a:solidFill>
                <a:latin typeface="Calibri" pitchFamily="34" charset="0"/>
                <a:ea typeface="Calibri" pitchFamily="34" charset="-122"/>
                <a:cs typeface="Calibri" pitchFamily="34" charset="-120"/>
              </a:rPr>
              <a:t>Manufactured urgency</a:t>
            </a:r>
            <a:endParaRPr lang="en-US" sz="1300" dirty="0"/>
          </a:p>
        </p:txBody>
      </p:sp>
      <p:sp>
        <p:nvSpPr>
          <p:cNvPr id="17" name="Text 13"/>
          <p:cNvSpPr/>
          <p:nvPr/>
        </p:nvSpPr>
        <p:spPr>
          <a:xfrm>
            <a:off x="7662672" y="2990088"/>
            <a:ext cx="3840480" cy="594360"/>
          </a:xfrm>
          <a:prstGeom prst="rect">
            <a:avLst/>
          </a:prstGeom>
          <a:noFill/>
          <a:ln/>
        </p:spPr>
        <p:txBody>
          <a:bodyPr wrap="square" rtlCol="0" anchor="ctr"/>
          <a:lstStyle/>
          <a:p>
            <a:pPr marL="0" indent="0">
              <a:lnSpc>
                <a:spcPct val="120000"/>
              </a:lnSpc>
              <a:buNone/>
            </a:pPr>
            <a:r>
              <a:rPr lang="en-US" sz="1050" dirty="0">
                <a:solidFill>
                  <a:srgbClr val="5B6C70"/>
                </a:solidFill>
                <a:latin typeface="Calibri" pitchFamily="34" charset="0"/>
                <a:ea typeface="Calibri" pitchFamily="34" charset="-122"/>
                <a:cs typeface="Calibri" pitchFamily="34" charset="-120"/>
              </a:rPr>
              <a:t>A tight, scary deadline is designed to stop you from thinking it through.</a:t>
            </a:r>
            <a:endParaRPr lang="en-US" sz="1050" dirty="0"/>
          </a:p>
        </p:txBody>
      </p:sp>
      <p:sp>
        <p:nvSpPr>
          <p:cNvPr id="18" name="Shape 14"/>
          <p:cNvSpPr/>
          <p:nvPr/>
        </p:nvSpPr>
        <p:spPr>
          <a:xfrm>
            <a:off x="7040880" y="3703320"/>
            <a:ext cx="457200" cy="457200"/>
          </a:xfrm>
          <a:prstGeom prst="ellipse">
            <a:avLst/>
          </a:prstGeom>
          <a:solidFill>
            <a:srgbClr val="E8A33D"/>
          </a:solidFill>
          <a:ln/>
        </p:spPr>
      </p:sp>
      <p:pic>
        <p:nvPicPr>
          <p:cNvPr id="19" name="Image 2" descr="/home/claude/phishing/icon_eyeOff_navy.png"/>
          <p:cNvPicPr>
            <a:picLocks noChangeAspect="1"/>
          </p:cNvPicPr>
          <p:nvPr/>
        </p:nvPicPr>
        <p:blipFill>
          <a:blip r:embed="rId5"/>
          <a:stretch>
            <a:fillRect/>
          </a:stretch>
        </p:blipFill>
        <p:spPr>
          <a:xfrm>
            <a:off x="7150608" y="3813048"/>
            <a:ext cx="237744" cy="237744"/>
          </a:xfrm>
          <a:prstGeom prst="rect">
            <a:avLst/>
          </a:prstGeom>
        </p:spPr>
      </p:pic>
      <p:sp>
        <p:nvSpPr>
          <p:cNvPr id="20" name="Text 15"/>
          <p:cNvSpPr/>
          <p:nvPr/>
        </p:nvSpPr>
        <p:spPr>
          <a:xfrm>
            <a:off x="7662672" y="3675888"/>
            <a:ext cx="3840480" cy="320040"/>
          </a:xfrm>
          <a:prstGeom prst="rect">
            <a:avLst/>
          </a:prstGeom>
          <a:noFill/>
          <a:ln/>
        </p:spPr>
        <p:txBody>
          <a:bodyPr wrap="square" rtlCol="0" anchor="ctr"/>
          <a:lstStyle/>
          <a:p>
            <a:pPr marL="0" indent="0">
              <a:buNone/>
            </a:pPr>
            <a:r>
              <a:rPr lang="en-US" sz="1300" b="1" dirty="0">
                <a:solidFill>
                  <a:srgbClr val="1B2B2E"/>
                </a:solidFill>
                <a:latin typeface="Calibri" pitchFamily="34" charset="0"/>
                <a:ea typeface="Calibri" pitchFamily="34" charset="-122"/>
                <a:cs typeface="Calibri" pitchFamily="34" charset="-120"/>
              </a:rPr>
              <a:t>Generic greeting</a:t>
            </a:r>
            <a:endParaRPr lang="en-US" sz="1300" dirty="0"/>
          </a:p>
        </p:txBody>
      </p:sp>
      <p:sp>
        <p:nvSpPr>
          <p:cNvPr id="21" name="Text 16"/>
          <p:cNvSpPr/>
          <p:nvPr/>
        </p:nvSpPr>
        <p:spPr>
          <a:xfrm>
            <a:off x="7662672" y="3995928"/>
            <a:ext cx="3840480" cy="594360"/>
          </a:xfrm>
          <a:prstGeom prst="rect">
            <a:avLst/>
          </a:prstGeom>
          <a:noFill/>
          <a:ln/>
        </p:spPr>
        <p:txBody>
          <a:bodyPr wrap="square" rtlCol="0" anchor="ctr"/>
          <a:lstStyle/>
          <a:p>
            <a:pPr marL="0" indent="0">
              <a:lnSpc>
                <a:spcPct val="120000"/>
              </a:lnSpc>
              <a:buNone/>
            </a:pPr>
            <a:r>
              <a:rPr lang="en-US" sz="1050" dirty="0">
                <a:solidFill>
                  <a:srgbClr val="5B6C70"/>
                </a:solidFill>
                <a:latin typeface="Calibri" pitchFamily="34" charset="0"/>
                <a:ea typeface="Calibri" pitchFamily="34" charset="-122"/>
                <a:cs typeface="Calibri" pitchFamily="34" charset="-120"/>
              </a:rPr>
              <a:t>“Dear User” instead of your name — legitimate IT teams know who you are.</a:t>
            </a:r>
            <a:endParaRPr lang="en-US" sz="1050" dirty="0"/>
          </a:p>
        </p:txBody>
      </p:sp>
      <p:sp>
        <p:nvSpPr>
          <p:cNvPr id="22" name="Shape 17"/>
          <p:cNvSpPr/>
          <p:nvPr/>
        </p:nvSpPr>
        <p:spPr>
          <a:xfrm>
            <a:off x="7040880" y="4709160"/>
            <a:ext cx="457200" cy="457200"/>
          </a:xfrm>
          <a:prstGeom prst="ellipse">
            <a:avLst/>
          </a:prstGeom>
          <a:solidFill>
            <a:srgbClr val="E8A33D"/>
          </a:solidFill>
          <a:ln/>
        </p:spPr>
      </p:sp>
      <p:pic>
        <p:nvPicPr>
          <p:cNvPr id="23" name="Image 3" descr="/home/claude/phishing/icon_link_navy.png"/>
          <p:cNvPicPr>
            <a:picLocks noChangeAspect="1"/>
          </p:cNvPicPr>
          <p:nvPr/>
        </p:nvPicPr>
        <p:blipFill>
          <a:blip r:embed="rId6"/>
          <a:stretch>
            <a:fillRect/>
          </a:stretch>
        </p:blipFill>
        <p:spPr>
          <a:xfrm>
            <a:off x="7150608" y="4818888"/>
            <a:ext cx="237744" cy="237744"/>
          </a:xfrm>
          <a:prstGeom prst="rect">
            <a:avLst/>
          </a:prstGeom>
        </p:spPr>
      </p:pic>
      <p:sp>
        <p:nvSpPr>
          <p:cNvPr id="24" name="Text 18"/>
          <p:cNvSpPr/>
          <p:nvPr/>
        </p:nvSpPr>
        <p:spPr>
          <a:xfrm>
            <a:off x="7662672" y="4681728"/>
            <a:ext cx="3840480" cy="320040"/>
          </a:xfrm>
          <a:prstGeom prst="rect">
            <a:avLst/>
          </a:prstGeom>
          <a:noFill/>
          <a:ln/>
        </p:spPr>
        <p:txBody>
          <a:bodyPr wrap="square" rtlCol="0" anchor="ctr"/>
          <a:lstStyle/>
          <a:p>
            <a:pPr marL="0" indent="0">
              <a:buNone/>
            </a:pPr>
            <a:r>
              <a:rPr lang="en-US" sz="1300" b="1" dirty="0">
                <a:solidFill>
                  <a:srgbClr val="1B2B2E"/>
                </a:solidFill>
                <a:latin typeface="Calibri" pitchFamily="34" charset="0"/>
                <a:ea typeface="Calibri" pitchFamily="34" charset="-122"/>
                <a:cs typeface="Calibri" pitchFamily="34" charset="-120"/>
              </a:rPr>
              <a:t>Mismatched or hidden link</a:t>
            </a:r>
            <a:endParaRPr lang="en-US" sz="1300" dirty="0"/>
          </a:p>
        </p:txBody>
      </p:sp>
      <p:sp>
        <p:nvSpPr>
          <p:cNvPr id="25" name="Text 19"/>
          <p:cNvSpPr/>
          <p:nvPr/>
        </p:nvSpPr>
        <p:spPr>
          <a:xfrm>
            <a:off x="7662672" y="5001768"/>
            <a:ext cx="3840480" cy="594360"/>
          </a:xfrm>
          <a:prstGeom prst="rect">
            <a:avLst/>
          </a:prstGeom>
          <a:noFill/>
          <a:ln/>
        </p:spPr>
        <p:txBody>
          <a:bodyPr wrap="square" rtlCol="0" anchor="ctr"/>
          <a:lstStyle/>
          <a:p>
            <a:pPr marL="0" indent="0">
              <a:lnSpc>
                <a:spcPct val="120000"/>
              </a:lnSpc>
              <a:buNone/>
            </a:pPr>
            <a:r>
              <a:rPr lang="en-US" sz="1050" dirty="0">
                <a:solidFill>
                  <a:srgbClr val="5B6C70"/>
                </a:solidFill>
                <a:latin typeface="Calibri" pitchFamily="34" charset="0"/>
                <a:ea typeface="Calibri" pitchFamily="34" charset="-122"/>
                <a:cs typeface="Calibri" pitchFamily="34" charset="-120"/>
              </a:rPr>
              <a:t>The button text and the actual destination URL rarely match; hover to check.</a:t>
            </a:r>
            <a:endParaRPr lang="en-US" sz="1050" dirty="0"/>
          </a:p>
        </p:txBody>
      </p:sp>
      <p:sp>
        <p:nvSpPr>
          <p:cNvPr id="26" name="Text 20"/>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27" name="Text 21"/>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A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SEE IT IN THE WILD</a:t>
            </a:r>
            <a:endParaRPr lang="en-US" sz="1300" dirty="0"/>
          </a:p>
        </p:txBody>
      </p:sp>
      <p:sp>
        <p:nvSpPr>
          <p:cNvPr id="3" name="Text 1"/>
          <p:cNvSpPr/>
          <p:nvPr/>
        </p:nvSpPr>
        <p:spPr>
          <a:xfrm>
            <a:off x="594360" y="777240"/>
            <a:ext cx="9144000" cy="685800"/>
          </a:xfrm>
          <a:prstGeom prst="rect">
            <a:avLst/>
          </a:prstGeom>
          <a:noFill/>
          <a:ln/>
        </p:spPr>
        <p:txBody>
          <a:bodyPr wrap="square" rtlCol="0" anchor="ctr"/>
          <a:lstStyle/>
          <a:p>
            <a:pPr marL="0" indent="0">
              <a:buNone/>
            </a:pPr>
            <a:r>
              <a:rPr lang="en-US" sz="2800" b="1" dirty="0">
                <a:solidFill>
                  <a:srgbClr val="0B1F2A"/>
                </a:solidFill>
                <a:latin typeface="Cambria" pitchFamily="34" charset="0"/>
                <a:ea typeface="Cambria" pitchFamily="34" charset="-122"/>
                <a:cs typeface="Cambria" pitchFamily="34" charset="-120"/>
              </a:rPr>
              <a:t>Real Example: Fake Apple ID Alert</a:t>
            </a:r>
            <a:endParaRPr lang="en-US" sz="2800" dirty="0"/>
          </a:p>
        </p:txBody>
      </p:sp>
      <p:sp>
        <p:nvSpPr>
          <p:cNvPr id="4" name="Text 2"/>
          <p:cNvSpPr/>
          <p:nvPr/>
        </p:nvSpPr>
        <p:spPr>
          <a:xfrm>
            <a:off x="640080" y="1417320"/>
            <a:ext cx="9144000" cy="365760"/>
          </a:xfrm>
          <a:prstGeom prst="rect">
            <a:avLst/>
          </a:prstGeom>
          <a:noFill/>
          <a:ln/>
        </p:spPr>
        <p:txBody>
          <a:bodyPr wrap="square" rtlCol="0" anchor="ctr"/>
          <a:lstStyle/>
          <a:p>
            <a:pPr marL="0" indent="0">
              <a:buNone/>
            </a:pPr>
            <a:r>
              <a:rPr lang="en-US" sz="1250" dirty="0">
                <a:solidFill>
                  <a:srgbClr val="5B6C70"/>
                </a:solidFill>
                <a:latin typeface="Calibri" pitchFamily="34" charset="0"/>
                <a:ea typeface="Calibri" pitchFamily="34" charset="-122"/>
                <a:cs typeface="Calibri" pitchFamily="34" charset="-120"/>
              </a:rPr>
              <a:t>The same red flags from the last slide, annotated on a real-style phishing email.</a:t>
            </a:r>
            <a:endParaRPr lang="en-US" sz="1250" dirty="0"/>
          </a:p>
        </p:txBody>
      </p:sp>
      <p:sp>
        <p:nvSpPr>
          <p:cNvPr id="5" name="Shape 3"/>
          <p:cNvSpPr/>
          <p:nvPr/>
        </p:nvSpPr>
        <p:spPr>
          <a:xfrm>
            <a:off x="2884932" y="1911096"/>
            <a:ext cx="6419088" cy="4315968"/>
          </a:xfrm>
          <a:prstGeom prst="roundRect">
            <a:avLst>
              <a:gd name="adj" fmla="val 1271"/>
            </a:avLst>
          </a:prstGeom>
          <a:solidFill>
            <a:srgbClr val="FFFFFF"/>
          </a:solidFill>
          <a:ln w="12700">
            <a:solidFill>
              <a:srgbClr val="D7E3E3"/>
            </a:solidFill>
            <a:prstDash val="solid"/>
          </a:ln>
          <a:effectLst>
            <a:outerShdw blurRad="101600" dist="38100" dir="5400000" algn="bl" rotWithShape="0">
              <a:srgbClr val="5B6C70">
                <a:alpha val="20000"/>
              </a:srgbClr>
            </a:outerShdw>
          </a:effectLst>
        </p:spPr>
      </p:sp>
      <p:pic>
        <p:nvPicPr>
          <p:cNvPr id="6" name="Image 0" descr="/home/claude/phishing/mockup_appleid.png"/>
          <p:cNvPicPr>
            <a:picLocks noChangeAspect="1"/>
          </p:cNvPicPr>
          <p:nvPr/>
        </p:nvPicPr>
        <p:blipFill>
          <a:blip r:embed="rId3"/>
          <a:stretch>
            <a:fillRect/>
          </a:stretch>
        </p:blipFill>
        <p:spPr>
          <a:xfrm>
            <a:off x="2939796" y="1965960"/>
            <a:ext cx="6309360" cy="4206240"/>
          </a:xfrm>
          <a:prstGeom prst="rect">
            <a:avLst/>
          </a:prstGeom>
        </p:spPr>
      </p:pic>
      <p:sp>
        <p:nvSpPr>
          <p:cNvPr id="7" name="Text 4"/>
          <p:cNvSpPr/>
          <p:nvPr/>
        </p:nvSpPr>
        <p:spPr>
          <a:xfrm>
            <a:off x="640080" y="6300216"/>
            <a:ext cx="10908792" cy="274320"/>
          </a:xfrm>
          <a:prstGeom prst="rect">
            <a:avLst/>
          </a:prstGeom>
          <a:noFill/>
          <a:ln/>
        </p:spPr>
        <p:txBody>
          <a:bodyPr wrap="square" rtlCol="0" anchor="ctr"/>
          <a:lstStyle/>
          <a:p>
            <a:pPr marL="0" indent="0" algn="ctr">
              <a:buNone/>
            </a:pPr>
            <a:r>
              <a:rPr lang="en-US" sz="1050" i="1" dirty="0">
                <a:solidFill>
                  <a:srgbClr val="8AA0A6"/>
                </a:solidFill>
                <a:latin typeface="Calibri" pitchFamily="34" charset="0"/>
                <a:ea typeface="Calibri" pitchFamily="34" charset="-122"/>
                <a:cs typeface="Calibri" pitchFamily="34" charset="-120"/>
              </a:rPr>
              <a:t>Training mockup — not a real email.</a:t>
            </a:r>
            <a:endParaRPr lang="en-US" sz="1050" dirty="0"/>
          </a:p>
        </p:txBody>
      </p:sp>
      <p:sp>
        <p:nvSpPr>
          <p:cNvPr id="8" name="Text 5"/>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9" name="Text 6"/>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A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SEE IT IN THE WILD</a:t>
            </a:r>
            <a:endParaRPr lang="en-US" sz="1300" dirty="0"/>
          </a:p>
        </p:txBody>
      </p:sp>
      <p:sp>
        <p:nvSpPr>
          <p:cNvPr id="3" name="Text 1"/>
          <p:cNvSpPr/>
          <p:nvPr/>
        </p:nvSpPr>
        <p:spPr>
          <a:xfrm>
            <a:off x="594360" y="777240"/>
            <a:ext cx="9601200" cy="685800"/>
          </a:xfrm>
          <a:prstGeom prst="rect">
            <a:avLst/>
          </a:prstGeom>
          <a:noFill/>
          <a:ln/>
        </p:spPr>
        <p:txBody>
          <a:bodyPr wrap="square" rtlCol="0" anchor="ctr"/>
          <a:lstStyle/>
          <a:p>
            <a:pPr marL="0" indent="0">
              <a:buNone/>
            </a:pPr>
            <a:r>
              <a:rPr lang="en-US" sz="2800" b="1" dirty="0">
                <a:solidFill>
                  <a:srgbClr val="0B1F2A"/>
                </a:solidFill>
                <a:latin typeface="Cambria" pitchFamily="34" charset="0"/>
                <a:ea typeface="Cambria" pitchFamily="34" charset="-122"/>
                <a:cs typeface="Cambria" pitchFamily="34" charset="-120"/>
              </a:rPr>
              <a:t>Real Example: Fake Bank Transfer Alert</a:t>
            </a:r>
            <a:endParaRPr lang="en-US" sz="2800" dirty="0"/>
          </a:p>
        </p:txBody>
      </p:sp>
      <p:sp>
        <p:nvSpPr>
          <p:cNvPr id="4" name="Text 2"/>
          <p:cNvSpPr/>
          <p:nvPr/>
        </p:nvSpPr>
        <p:spPr>
          <a:xfrm>
            <a:off x="640080" y="1417320"/>
            <a:ext cx="9601200" cy="365760"/>
          </a:xfrm>
          <a:prstGeom prst="rect">
            <a:avLst/>
          </a:prstGeom>
          <a:noFill/>
          <a:ln/>
        </p:spPr>
        <p:txBody>
          <a:bodyPr wrap="square" rtlCol="0" anchor="ctr"/>
          <a:lstStyle/>
          <a:p>
            <a:pPr marL="0" indent="0">
              <a:buNone/>
            </a:pPr>
            <a:r>
              <a:rPr lang="en-US" sz="1250" dirty="0">
                <a:solidFill>
                  <a:srgbClr val="5B6C70"/>
                </a:solidFill>
                <a:latin typeface="Calibri" pitchFamily="34" charset="0"/>
                <a:ea typeface="Calibri" pitchFamily="34" charset="-122"/>
                <a:cs typeface="Calibri" pitchFamily="34" charset="-120"/>
              </a:rPr>
              <a:t>A convincing bank-branded email, with the fake domain and malicious link exposed.</a:t>
            </a:r>
            <a:endParaRPr lang="en-US" sz="1250" dirty="0"/>
          </a:p>
        </p:txBody>
      </p:sp>
      <p:sp>
        <p:nvSpPr>
          <p:cNvPr id="5" name="Shape 3"/>
          <p:cNvSpPr/>
          <p:nvPr/>
        </p:nvSpPr>
        <p:spPr>
          <a:xfrm>
            <a:off x="2884932" y="1911096"/>
            <a:ext cx="6419088" cy="4315968"/>
          </a:xfrm>
          <a:prstGeom prst="roundRect">
            <a:avLst>
              <a:gd name="adj" fmla="val 1271"/>
            </a:avLst>
          </a:prstGeom>
          <a:solidFill>
            <a:srgbClr val="FFFFFF"/>
          </a:solidFill>
          <a:ln w="12700">
            <a:solidFill>
              <a:srgbClr val="D7E3E3"/>
            </a:solidFill>
            <a:prstDash val="solid"/>
          </a:ln>
          <a:effectLst>
            <a:outerShdw blurRad="101600" dist="38100" dir="5400000" algn="bl" rotWithShape="0">
              <a:srgbClr val="5B6C70">
                <a:alpha val="20000"/>
              </a:srgbClr>
            </a:outerShdw>
          </a:effectLst>
        </p:spPr>
      </p:sp>
      <p:pic>
        <p:nvPicPr>
          <p:cNvPr id="6" name="Image 0" descr="/home/claude/phishing/mockup_bank.png"/>
          <p:cNvPicPr>
            <a:picLocks noChangeAspect="1"/>
          </p:cNvPicPr>
          <p:nvPr/>
        </p:nvPicPr>
        <p:blipFill>
          <a:blip r:embed="rId3"/>
          <a:stretch>
            <a:fillRect/>
          </a:stretch>
        </p:blipFill>
        <p:spPr>
          <a:xfrm>
            <a:off x="2939796" y="1965960"/>
            <a:ext cx="6309360" cy="4206240"/>
          </a:xfrm>
          <a:prstGeom prst="rect">
            <a:avLst/>
          </a:prstGeom>
        </p:spPr>
      </p:pic>
      <p:sp>
        <p:nvSpPr>
          <p:cNvPr id="7" name="Text 4"/>
          <p:cNvSpPr/>
          <p:nvPr/>
        </p:nvSpPr>
        <p:spPr>
          <a:xfrm>
            <a:off x="640080" y="6300216"/>
            <a:ext cx="10908792" cy="274320"/>
          </a:xfrm>
          <a:prstGeom prst="rect">
            <a:avLst/>
          </a:prstGeom>
          <a:noFill/>
          <a:ln/>
        </p:spPr>
        <p:txBody>
          <a:bodyPr wrap="square" rtlCol="0" anchor="ctr"/>
          <a:lstStyle/>
          <a:p>
            <a:pPr marL="0" indent="0" algn="ctr">
              <a:buNone/>
            </a:pPr>
            <a:r>
              <a:rPr lang="en-US" sz="1050" i="1" dirty="0">
                <a:solidFill>
                  <a:srgbClr val="8AA0A6"/>
                </a:solidFill>
                <a:latin typeface="Calibri" pitchFamily="34" charset="0"/>
                <a:ea typeface="Calibri" pitchFamily="34" charset="-122"/>
                <a:cs typeface="Calibri" pitchFamily="34" charset="-120"/>
              </a:rPr>
              <a:t>Training mockup — not a real email.</a:t>
            </a:r>
            <a:endParaRPr lang="en-US" sz="1050" dirty="0"/>
          </a:p>
        </p:txBody>
      </p:sp>
      <p:sp>
        <p:nvSpPr>
          <p:cNvPr id="8" name="Text 5"/>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9" name="Text 6"/>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2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BEYOND THE INBOX</a:t>
            </a:r>
            <a:endParaRPr lang="en-US" sz="1300" dirty="0"/>
          </a:p>
        </p:txBody>
      </p:sp>
      <p:sp>
        <p:nvSpPr>
          <p:cNvPr id="3" name="Text 1"/>
          <p:cNvSpPr/>
          <p:nvPr/>
        </p:nvSpPr>
        <p:spPr>
          <a:xfrm>
            <a:off x="594360" y="822960"/>
            <a:ext cx="731520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Spotting a Fake Website</a:t>
            </a:r>
            <a:endParaRPr lang="en-US" sz="3000" dirty="0"/>
          </a:p>
        </p:txBody>
      </p:sp>
      <p:sp>
        <p:nvSpPr>
          <p:cNvPr id="4" name="Text 2"/>
          <p:cNvSpPr/>
          <p:nvPr/>
        </p:nvSpPr>
        <p:spPr>
          <a:xfrm>
            <a:off x="640080" y="1508760"/>
            <a:ext cx="10058400" cy="457200"/>
          </a:xfrm>
          <a:prstGeom prst="rect">
            <a:avLst/>
          </a:prstGeom>
          <a:noFill/>
          <a:ln/>
        </p:spPr>
        <p:txBody>
          <a:bodyPr wrap="square" rtlCol="0" anchor="ctr"/>
          <a:lstStyle/>
          <a:p>
            <a:pPr marL="0" indent="0">
              <a:buNone/>
            </a:pPr>
            <a:r>
              <a:rPr lang="en-US" sz="1300" dirty="0">
                <a:solidFill>
                  <a:srgbClr val="AFC6CC"/>
                </a:solidFill>
                <a:latin typeface="Calibri" pitchFamily="34" charset="0"/>
                <a:ea typeface="Calibri" pitchFamily="34" charset="-122"/>
                <a:cs typeface="Calibri" pitchFamily="34" charset="-120"/>
              </a:rPr>
              <a:t>A convincing email often leads to an even more convincing login page. Before you type a password anywhere, check these five things.</a:t>
            </a:r>
            <a:endParaRPr lang="en-US" sz="1300" dirty="0"/>
          </a:p>
        </p:txBody>
      </p:sp>
      <p:sp>
        <p:nvSpPr>
          <p:cNvPr id="5" name="Shape 3"/>
          <p:cNvSpPr/>
          <p:nvPr/>
        </p:nvSpPr>
        <p:spPr>
          <a:xfrm>
            <a:off x="640080" y="2148840"/>
            <a:ext cx="5212080" cy="1965960"/>
          </a:xfrm>
          <a:prstGeom prst="roundRect">
            <a:avLst>
              <a:gd name="adj" fmla="val 4651"/>
            </a:avLst>
          </a:prstGeom>
          <a:solidFill>
            <a:srgbClr val="13303D"/>
          </a:solidFill>
          <a:ln/>
        </p:spPr>
      </p:sp>
      <p:sp>
        <p:nvSpPr>
          <p:cNvPr id="6" name="Shape 4"/>
          <p:cNvSpPr/>
          <p:nvPr/>
        </p:nvSpPr>
        <p:spPr>
          <a:xfrm>
            <a:off x="868680" y="2377440"/>
            <a:ext cx="502920" cy="502920"/>
          </a:xfrm>
          <a:prstGeom prst="ellipse">
            <a:avLst/>
          </a:prstGeom>
          <a:solidFill>
            <a:srgbClr val="00A896"/>
          </a:solidFill>
          <a:ln/>
        </p:spPr>
      </p:sp>
      <p:pic>
        <p:nvPicPr>
          <p:cNvPr id="7" name="Image 0" descr="/home/claude/phishing/icon_link_navy.png"/>
          <p:cNvPicPr>
            <a:picLocks noChangeAspect="1"/>
          </p:cNvPicPr>
          <p:nvPr/>
        </p:nvPicPr>
        <p:blipFill>
          <a:blip r:embed="rId3"/>
          <a:stretch>
            <a:fillRect/>
          </a:stretch>
        </p:blipFill>
        <p:spPr>
          <a:xfrm>
            <a:off x="978408" y="2487168"/>
            <a:ext cx="283464" cy="283464"/>
          </a:xfrm>
          <a:prstGeom prst="rect">
            <a:avLst/>
          </a:prstGeom>
        </p:spPr>
      </p:pic>
      <p:sp>
        <p:nvSpPr>
          <p:cNvPr id="8" name="Text 5"/>
          <p:cNvSpPr/>
          <p:nvPr/>
        </p:nvSpPr>
        <p:spPr>
          <a:xfrm>
            <a:off x="1508760" y="2350008"/>
            <a:ext cx="4114800" cy="5486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domain, not just the padlock</a:t>
            </a:r>
            <a:endParaRPr lang="en-US" sz="1400" dirty="0"/>
          </a:p>
        </p:txBody>
      </p:sp>
      <p:sp>
        <p:nvSpPr>
          <p:cNvPr id="9" name="Text 6"/>
          <p:cNvSpPr/>
          <p:nvPr/>
        </p:nvSpPr>
        <p:spPr>
          <a:xfrm>
            <a:off x="868680" y="3017520"/>
            <a:ext cx="4754880" cy="1005840"/>
          </a:xfrm>
          <a:prstGeom prst="rect">
            <a:avLst/>
          </a:prstGeom>
          <a:noFill/>
          <a:ln/>
        </p:spPr>
        <p:txBody>
          <a:bodyPr wrap="square" rtlCol="0" anchor="ctr"/>
          <a:lstStyle/>
          <a:p>
            <a:pPr marL="0" indent="0">
              <a:lnSpc>
                <a:spcPct val="125000"/>
              </a:lnSpc>
              <a:buNone/>
            </a:pPr>
            <a:r>
              <a:rPr lang="en-US" sz="1100" dirty="0">
                <a:solidFill>
                  <a:srgbClr val="AFC6CC"/>
                </a:solidFill>
                <a:latin typeface="Calibri" pitchFamily="34" charset="0"/>
                <a:ea typeface="Calibri" pitchFamily="34" charset="-122"/>
                <a:cs typeface="Calibri" pitchFamily="34" charset="-120"/>
              </a:rPr>
              <a:t>A padlock only means the connection is encrypted — anyone can get one, including attackers. Read the full domain carefully.</a:t>
            </a:r>
            <a:endParaRPr lang="en-US" sz="1100" dirty="0"/>
          </a:p>
        </p:txBody>
      </p:sp>
      <p:sp>
        <p:nvSpPr>
          <p:cNvPr id="10" name="Shape 7"/>
          <p:cNvSpPr/>
          <p:nvPr/>
        </p:nvSpPr>
        <p:spPr>
          <a:xfrm>
            <a:off x="6217920" y="2148840"/>
            <a:ext cx="5212080" cy="1965960"/>
          </a:xfrm>
          <a:prstGeom prst="roundRect">
            <a:avLst>
              <a:gd name="adj" fmla="val 4651"/>
            </a:avLst>
          </a:prstGeom>
          <a:solidFill>
            <a:srgbClr val="13303D"/>
          </a:solidFill>
          <a:ln/>
        </p:spPr>
      </p:sp>
      <p:sp>
        <p:nvSpPr>
          <p:cNvPr id="11" name="Shape 8"/>
          <p:cNvSpPr/>
          <p:nvPr/>
        </p:nvSpPr>
        <p:spPr>
          <a:xfrm>
            <a:off x="6446520" y="2377440"/>
            <a:ext cx="502920" cy="502920"/>
          </a:xfrm>
          <a:prstGeom prst="ellipse">
            <a:avLst/>
          </a:prstGeom>
          <a:solidFill>
            <a:srgbClr val="00A896"/>
          </a:solidFill>
          <a:ln/>
        </p:spPr>
      </p:sp>
      <p:pic>
        <p:nvPicPr>
          <p:cNvPr id="12" name="Image 1" descr="/home/claude/phishing/icon_eyeOff_navy.png"/>
          <p:cNvPicPr>
            <a:picLocks noChangeAspect="1"/>
          </p:cNvPicPr>
          <p:nvPr/>
        </p:nvPicPr>
        <p:blipFill>
          <a:blip r:embed="rId4"/>
          <a:stretch>
            <a:fillRect/>
          </a:stretch>
        </p:blipFill>
        <p:spPr>
          <a:xfrm>
            <a:off x="6556248" y="2487168"/>
            <a:ext cx="283464" cy="283464"/>
          </a:xfrm>
          <a:prstGeom prst="rect">
            <a:avLst/>
          </a:prstGeom>
        </p:spPr>
      </p:pic>
      <p:sp>
        <p:nvSpPr>
          <p:cNvPr id="13" name="Text 9"/>
          <p:cNvSpPr/>
          <p:nvPr/>
        </p:nvSpPr>
        <p:spPr>
          <a:xfrm>
            <a:off x="7086600" y="2350008"/>
            <a:ext cx="4114800" cy="5486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Misspellings and extra words</a:t>
            </a:r>
            <a:endParaRPr lang="en-US" sz="1400" dirty="0"/>
          </a:p>
        </p:txBody>
      </p:sp>
      <p:sp>
        <p:nvSpPr>
          <p:cNvPr id="14" name="Text 10"/>
          <p:cNvSpPr/>
          <p:nvPr/>
        </p:nvSpPr>
        <p:spPr>
          <a:xfrm>
            <a:off x="6446520" y="3017520"/>
            <a:ext cx="4754880" cy="1005840"/>
          </a:xfrm>
          <a:prstGeom prst="rect">
            <a:avLst/>
          </a:prstGeom>
          <a:noFill/>
          <a:ln/>
        </p:spPr>
        <p:txBody>
          <a:bodyPr wrap="square" rtlCol="0" anchor="ctr"/>
          <a:lstStyle/>
          <a:p>
            <a:pPr marL="0" indent="0">
              <a:lnSpc>
                <a:spcPct val="125000"/>
              </a:lnSpc>
              <a:buNone/>
            </a:pPr>
            <a:r>
              <a:rPr lang="en-US" sz="1100" dirty="0">
                <a:solidFill>
                  <a:srgbClr val="AFC6CC"/>
                </a:solidFill>
                <a:latin typeface="Calibri" pitchFamily="34" charset="0"/>
                <a:ea typeface="Calibri" pitchFamily="34" charset="-122"/>
                <a:cs typeface="Calibri" pitchFamily="34" charset="-120"/>
              </a:rPr>
              <a:t>Watch for swapped letters, extra hyphens, or added words like “secure” or “verify” bolted onto a familiar brand name.</a:t>
            </a:r>
            <a:endParaRPr lang="en-US" sz="1100" dirty="0"/>
          </a:p>
        </p:txBody>
      </p:sp>
      <p:sp>
        <p:nvSpPr>
          <p:cNvPr id="15" name="Shape 11"/>
          <p:cNvSpPr/>
          <p:nvPr/>
        </p:nvSpPr>
        <p:spPr>
          <a:xfrm>
            <a:off x="640080" y="4389120"/>
            <a:ext cx="5212080" cy="1965960"/>
          </a:xfrm>
          <a:prstGeom prst="roundRect">
            <a:avLst>
              <a:gd name="adj" fmla="val 4651"/>
            </a:avLst>
          </a:prstGeom>
          <a:solidFill>
            <a:srgbClr val="13303D"/>
          </a:solidFill>
          <a:ln/>
        </p:spPr>
      </p:sp>
      <p:sp>
        <p:nvSpPr>
          <p:cNvPr id="16" name="Shape 12"/>
          <p:cNvSpPr/>
          <p:nvPr/>
        </p:nvSpPr>
        <p:spPr>
          <a:xfrm>
            <a:off x="868680" y="4617720"/>
            <a:ext cx="502920" cy="502920"/>
          </a:xfrm>
          <a:prstGeom prst="ellipse">
            <a:avLst/>
          </a:prstGeom>
          <a:solidFill>
            <a:srgbClr val="00A896"/>
          </a:solidFill>
          <a:ln/>
        </p:spPr>
      </p:sp>
      <p:pic>
        <p:nvPicPr>
          <p:cNvPr id="17" name="Image 2" descr="/home/claude/phishing/icon_alert_navy.png"/>
          <p:cNvPicPr>
            <a:picLocks noChangeAspect="1"/>
          </p:cNvPicPr>
          <p:nvPr/>
        </p:nvPicPr>
        <p:blipFill>
          <a:blip r:embed="rId5"/>
          <a:stretch>
            <a:fillRect/>
          </a:stretch>
        </p:blipFill>
        <p:spPr>
          <a:xfrm>
            <a:off x="978408" y="4727448"/>
            <a:ext cx="283464" cy="283464"/>
          </a:xfrm>
          <a:prstGeom prst="rect">
            <a:avLst/>
          </a:prstGeom>
        </p:spPr>
      </p:pic>
      <p:sp>
        <p:nvSpPr>
          <p:cNvPr id="18" name="Text 13"/>
          <p:cNvSpPr/>
          <p:nvPr/>
        </p:nvSpPr>
        <p:spPr>
          <a:xfrm>
            <a:off x="1508760" y="4590288"/>
            <a:ext cx="4114800" cy="5486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Unusual top-level domains</a:t>
            </a:r>
            <a:endParaRPr lang="en-US" sz="1400" dirty="0"/>
          </a:p>
        </p:txBody>
      </p:sp>
      <p:sp>
        <p:nvSpPr>
          <p:cNvPr id="19" name="Text 14"/>
          <p:cNvSpPr/>
          <p:nvPr/>
        </p:nvSpPr>
        <p:spPr>
          <a:xfrm>
            <a:off x="868680" y="5257800"/>
            <a:ext cx="4754880" cy="1005840"/>
          </a:xfrm>
          <a:prstGeom prst="rect">
            <a:avLst/>
          </a:prstGeom>
          <a:noFill/>
          <a:ln/>
        </p:spPr>
        <p:txBody>
          <a:bodyPr wrap="square" rtlCol="0" anchor="ctr"/>
          <a:lstStyle/>
          <a:p>
            <a:pPr marL="0" indent="0">
              <a:lnSpc>
                <a:spcPct val="125000"/>
              </a:lnSpc>
              <a:buNone/>
            </a:pPr>
            <a:r>
              <a:rPr lang="en-US" sz="1100" dirty="0">
                <a:solidFill>
                  <a:srgbClr val="AFC6CC"/>
                </a:solidFill>
                <a:latin typeface="Calibri" pitchFamily="34" charset="0"/>
                <a:ea typeface="Calibri" pitchFamily="34" charset="-122"/>
                <a:cs typeface="Calibri" pitchFamily="34" charset="-120"/>
              </a:rPr>
              <a:t>A bank or major retailer using an unfamiliar domain ending that doesn't match their real site is a red flag.</a:t>
            </a:r>
            <a:endParaRPr lang="en-US" sz="1100" dirty="0"/>
          </a:p>
        </p:txBody>
      </p:sp>
      <p:sp>
        <p:nvSpPr>
          <p:cNvPr id="20" name="Shape 15"/>
          <p:cNvSpPr/>
          <p:nvPr/>
        </p:nvSpPr>
        <p:spPr>
          <a:xfrm>
            <a:off x="6217920" y="4389120"/>
            <a:ext cx="5212080" cy="1965960"/>
          </a:xfrm>
          <a:prstGeom prst="roundRect">
            <a:avLst>
              <a:gd name="adj" fmla="val 4651"/>
            </a:avLst>
          </a:prstGeom>
          <a:solidFill>
            <a:srgbClr val="13303D"/>
          </a:solidFill>
          <a:ln/>
        </p:spPr>
      </p:sp>
      <p:sp>
        <p:nvSpPr>
          <p:cNvPr id="21" name="Shape 16"/>
          <p:cNvSpPr/>
          <p:nvPr/>
        </p:nvSpPr>
        <p:spPr>
          <a:xfrm>
            <a:off x="6446520" y="4617720"/>
            <a:ext cx="502920" cy="502920"/>
          </a:xfrm>
          <a:prstGeom prst="ellipse">
            <a:avLst/>
          </a:prstGeom>
          <a:solidFill>
            <a:srgbClr val="00A896"/>
          </a:solidFill>
          <a:ln/>
        </p:spPr>
      </p:sp>
      <p:pic>
        <p:nvPicPr>
          <p:cNvPr id="22" name="Image 3" descr="/home/claude/phishing/icon_userCheck_navy.png"/>
          <p:cNvPicPr>
            <a:picLocks noChangeAspect="1"/>
          </p:cNvPicPr>
          <p:nvPr/>
        </p:nvPicPr>
        <p:blipFill>
          <a:blip r:embed="rId6"/>
          <a:stretch>
            <a:fillRect/>
          </a:stretch>
        </p:blipFill>
        <p:spPr>
          <a:xfrm>
            <a:off x="6556248" y="4727448"/>
            <a:ext cx="283464" cy="283464"/>
          </a:xfrm>
          <a:prstGeom prst="rect">
            <a:avLst/>
          </a:prstGeom>
        </p:spPr>
      </p:pic>
      <p:sp>
        <p:nvSpPr>
          <p:cNvPr id="23" name="Text 17"/>
          <p:cNvSpPr/>
          <p:nvPr/>
        </p:nvSpPr>
        <p:spPr>
          <a:xfrm>
            <a:off x="7086600" y="4590288"/>
            <a:ext cx="4114800" cy="5486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Requests for everything at once</a:t>
            </a:r>
            <a:endParaRPr lang="en-US" sz="1400" dirty="0"/>
          </a:p>
        </p:txBody>
      </p:sp>
      <p:sp>
        <p:nvSpPr>
          <p:cNvPr id="24" name="Text 18"/>
          <p:cNvSpPr/>
          <p:nvPr/>
        </p:nvSpPr>
        <p:spPr>
          <a:xfrm>
            <a:off x="6446520" y="5257800"/>
            <a:ext cx="4754880" cy="1005840"/>
          </a:xfrm>
          <a:prstGeom prst="rect">
            <a:avLst/>
          </a:prstGeom>
          <a:noFill/>
          <a:ln/>
        </p:spPr>
        <p:txBody>
          <a:bodyPr wrap="square" rtlCol="0" anchor="ctr"/>
          <a:lstStyle/>
          <a:p>
            <a:pPr marL="0" indent="0">
              <a:lnSpc>
                <a:spcPct val="125000"/>
              </a:lnSpc>
              <a:buNone/>
            </a:pPr>
            <a:r>
              <a:rPr lang="en-US" sz="1100" dirty="0">
                <a:solidFill>
                  <a:srgbClr val="AFC6CC"/>
                </a:solidFill>
                <a:latin typeface="Calibri" pitchFamily="34" charset="0"/>
                <a:ea typeface="Calibri" pitchFamily="34" charset="-122"/>
                <a:cs typeface="Calibri" pitchFamily="34" charset="-120"/>
              </a:rPr>
              <a:t>Real login pages ask for a username and password — not your PIN, security questions, and card number on one page.</a:t>
            </a:r>
            <a:endParaRPr lang="en-US" sz="1100" dirty="0"/>
          </a:p>
        </p:txBody>
      </p:sp>
      <p:sp>
        <p:nvSpPr>
          <p:cNvPr id="25" name="Text 19"/>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26" name="Text 20"/>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THE HUMAN ANGLE</a:t>
            </a:r>
            <a:endParaRPr lang="en-US" sz="1300" dirty="0"/>
          </a:p>
        </p:txBody>
      </p:sp>
      <p:sp>
        <p:nvSpPr>
          <p:cNvPr id="3" name="Text 1"/>
          <p:cNvSpPr/>
          <p:nvPr/>
        </p:nvSpPr>
        <p:spPr>
          <a:xfrm>
            <a:off x="594360" y="822960"/>
            <a:ext cx="8229600" cy="731520"/>
          </a:xfrm>
          <a:prstGeom prst="rect">
            <a:avLst/>
          </a:prstGeom>
          <a:noFill/>
          <a:ln/>
        </p:spPr>
        <p:txBody>
          <a:bodyPr wrap="square" rtlCol="0" anchor="ctr"/>
          <a:lstStyle/>
          <a:p>
            <a:pPr marL="0" indent="0">
              <a:buNone/>
            </a:pPr>
            <a:r>
              <a:rPr lang="en-US" sz="3000" b="1" dirty="0">
                <a:solidFill>
                  <a:srgbClr val="0B1F2A"/>
                </a:solidFill>
                <a:latin typeface="Cambria" pitchFamily="34" charset="0"/>
                <a:ea typeface="Cambria" pitchFamily="34" charset="-122"/>
                <a:cs typeface="Cambria" pitchFamily="34" charset="-120"/>
              </a:rPr>
              <a:t>Social Engineering Tactics</a:t>
            </a:r>
            <a:endParaRPr lang="en-US" sz="3000" dirty="0"/>
          </a:p>
        </p:txBody>
      </p:sp>
      <p:sp>
        <p:nvSpPr>
          <p:cNvPr id="4" name="Text 2"/>
          <p:cNvSpPr/>
          <p:nvPr/>
        </p:nvSpPr>
        <p:spPr>
          <a:xfrm>
            <a:off x="640080" y="1508760"/>
            <a:ext cx="9601200" cy="365760"/>
          </a:xfrm>
          <a:prstGeom prst="rect">
            <a:avLst/>
          </a:prstGeom>
          <a:noFill/>
          <a:ln/>
        </p:spPr>
        <p:txBody>
          <a:bodyPr wrap="square" rtlCol="0" anchor="ctr"/>
          <a:lstStyle/>
          <a:p>
            <a:pPr marL="0" indent="0">
              <a:buNone/>
            </a:pPr>
            <a:r>
              <a:rPr lang="en-US" sz="1300" dirty="0">
                <a:solidFill>
                  <a:srgbClr val="5B6C70"/>
                </a:solidFill>
                <a:latin typeface="Calibri" pitchFamily="34" charset="0"/>
                <a:ea typeface="Calibri" pitchFamily="34" charset="-122"/>
                <a:cs typeface="Calibri" pitchFamily="34" charset="-120"/>
              </a:rPr>
              <a:t>Phishing rarely relies on technical tricks alone — it relies on these psychological levers.</a:t>
            </a:r>
            <a:endParaRPr lang="en-US" sz="1300" dirty="0"/>
          </a:p>
        </p:txBody>
      </p:sp>
      <p:sp>
        <p:nvSpPr>
          <p:cNvPr id="5" name="Shape 3"/>
          <p:cNvSpPr/>
          <p:nvPr/>
        </p:nvSpPr>
        <p:spPr>
          <a:xfrm>
            <a:off x="640080" y="2057400"/>
            <a:ext cx="502920" cy="502920"/>
          </a:xfrm>
          <a:prstGeom prst="ellipse">
            <a:avLst/>
          </a:prstGeom>
          <a:solidFill>
            <a:srgbClr val="00A896"/>
          </a:solidFill>
          <a:ln/>
        </p:spPr>
      </p:sp>
      <p:pic>
        <p:nvPicPr>
          <p:cNvPr id="6" name="Image 0" descr="/home/claude/phishing/icon_clock_navy.png"/>
          <p:cNvPicPr>
            <a:picLocks noChangeAspect="1"/>
          </p:cNvPicPr>
          <p:nvPr/>
        </p:nvPicPr>
        <p:blipFill>
          <a:blip r:embed="rId3"/>
          <a:stretch>
            <a:fillRect/>
          </a:stretch>
        </p:blipFill>
        <p:spPr>
          <a:xfrm>
            <a:off x="749808" y="2167128"/>
            <a:ext cx="283464" cy="283464"/>
          </a:xfrm>
          <a:prstGeom prst="rect">
            <a:avLst/>
          </a:prstGeom>
        </p:spPr>
      </p:pic>
      <p:sp>
        <p:nvSpPr>
          <p:cNvPr id="7" name="Text 4"/>
          <p:cNvSpPr/>
          <p:nvPr/>
        </p:nvSpPr>
        <p:spPr>
          <a:xfrm>
            <a:off x="1280160" y="2011680"/>
            <a:ext cx="2926080" cy="365760"/>
          </a:xfrm>
          <a:prstGeom prst="rect">
            <a:avLst/>
          </a:prstGeom>
          <a:noFill/>
          <a:ln/>
        </p:spPr>
        <p:txBody>
          <a:bodyPr wrap="square" rtlCol="0" anchor="ctr"/>
          <a:lstStyle/>
          <a:p>
            <a:pPr marL="0" indent="0">
              <a:buNone/>
            </a:pPr>
            <a:r>
              <a:rPr lang="en-US" sz="1400" b="1" dirty="0">
                <a:solidFill>
                  <a:srgbClr val="1B2B2E"/>
                </a:solidFill>
                <a:latin typeface="Calibri" pitchFamily="34" charset="0"/>
                <a:ea typeface="Calibri" pitchFamily="34" charset="-122"/>
                <a:cs typeface="Calibri" pitchFamily="34" charset="-120"/>
              </a:rPr>
              <a:t>Urgency</a:t>
            </a:r>
            <a:endParaRPr lang="en-US" sz="1400" dirty="0"/>
          </a:p>
        </p:txBody>
      </p:sp>
      <p:sp>
        <p:nvSpPr>
          <p:cNvPr id="8" name="Text 5"/>
          <p:cNvSpPr/>
          <p:nvPr/>
        </p:nvSpPr>
        <p:spPr>
          <a:xfrm>
            <a:off x="640080" y="2651760"/>
            <a:ext cx="3566160" cy="1097280"/>
          </a:xfrm>
          <a:prstGeom prst="rect">
            <a:avLst/>
          </a:prstGeom>
          <a:noFill/>
          <a:ln/>
        </p:spPr>
        <p:txBody>
          <a:bodyPr wrap="square" rtlCol="0" anchor="ctr"/>
          <a:lstStyle/>
          <a:p>
            <a:pPr marL="0" indent="0">
              <a:lnSpc>
                <a:spcPct val="125000"/>
              </a:lnSpc>
              <a:buNone/>
            </a:pPr>
            <a:r>
              <a:rPr lang="en-US" sz="1100" dirty="0">
                <a:solidFill>
                  <a:srgbClr val="5B6C70"/>
                </a:solidFill>
                <a:latin typeface="Calibri" pitchFamily="34" charset="0"/>
                <a:ea typeface="Calibri" pitchFamily="34" charset="-122"/>
                <a:cs typeface="Calibri" pitchFamily="34" charset="-120"/>
              </a:rPr>
              <a:t>“Act in 24 hours or lose access.” Pressure short-circuits careful thinking.</a:t>
            </a:r>
            <a:endParaRPr lang="en-US" sz="1100" dirty="0"/>
          </a:p>
        </p:txBody>
      </p:sp>
      <p:sp>
        <p:nvSpPr>
          <p:cNvPr id="9" name="Shape 6"/>
          <p:cNvSpPr/>
          <p:nvPr/>
        </p:nvSpPr>
        <p:spPr>
          <a:xfrm>
            <a:off x="4434840" y="2057400"/>
            <a:ext cx="502920" cy="502920"/>
          </a:xfrm>
          <a:prstGeom prst="ellipse">
            <a:avLst/>
          </a:prstGeom>
          <a:solidFill>
            <a:srgbClr val="00A896"/>
          </a:solidFill>
          <a:ln/>
        </p:spPr>
      </p:sp>
      <p:pic>
        <p:nvPicPr>
          <p:cNvPr id="10" name="Image 1" descr="/home/claude/phishing/icon_userCheck_navy.png"/>
          <p:cNvPicPr>
            <a:picLocks noChangeAspect="1"/>
          </p:cNvPicPr>
          <p:nvPr/>
        </p:nvPicPr>
        <p:blipFill>
          <a:blip r:embed="rId4"/>
          <a:stretch>
            <a:fillRect/>
          </a:stretch>
        </p:blipFill>
        <p:spPr>
          <a:xfrm>
            <a:off x="4544568" y="2167128"/>
            <a:ext cx="283464" cy="283464"/>
          </a:xfrm>
          <a:prstGeom prst="rect">
            <a:avLst/>
          </a:prstGeom>
        </p:spPr>
      </p:pic>
      <p:sp>
        <p:nvSpPr>
          <p:cNvPr id="11" name="Text 7"/>
          <p:cNvSpPr/>
          <p:nvPr/>
        </p:nvSpPr>
        <p:spPr>
          <a:xfrm>
            <a:off x="5074920" y="2011680"/>
            <a:ext cx="2926080" cy="365760"/>
          </a:xfrm>
          <a:prstGeom prst="rect">
            <a:avLst/>
          </a:prstGeom>
          <a:noFill/>
          <a:ln/>
        </p:spPr>
        <p:txBody>
          <a:bodyPr wrap="square" rtlCol="0" anchor="ctr"/>
          <a:lstStyle/>
          <a:p>
            <a:pPr marL="0" indent="0">
              <a:buNone/>
            </a:pPr>
            <a:r>
              <a:rPr lang="en-US" sz="1400" b="1" dirty="0">
                <a:solidFill>
                  <a:srgbClr val="1B2B2E"/>
                </a:solidFill>
                <a:latin typeface="Calibri" pitchFamily="34" charset="0"/>
                <a:ea typeface="Calibri" pitchFamily="34" charset="-122"/>
                <a:cs typeface="Calibri" pitchFamily="34" charset="-120"/>
              </a:rPr>
              <a:t>Authority</a:t>
            </a:r>
            <a:endParaRPr lang="en-US" sz="1400" dirty="0"/>
          </a:p>
        </p:txBody>
      </p:sp>
      <p:sp>
        <p:nvSpPr>
          <p:cNvPr id="12" name="Text 8"/>
          <p:cNvSpPr/>
          <p:nvPr/>
        </p:nvSpPr>
        <p:spPr>
          <a:xfrm>
            <a:off x="4434840" y="2651760"/>
            <a:ext cx="3566160" cy="1097280"/>
          </a:xfrm>
          <a:prstGeom prst="rect">
            <a:avLst/>
          </a:prstGeom>
          <a:noFill/>
          <a:ln/>
        </p:spPr>
        <p:txBody>
          <a:bodyPr wrap="square" rtlCol="0" anchor="ctr"/>
          <a:lstStyle/>
          <a:p>
            <a:pPr marL="0" indent="0">
              <a:lnSpc>
                <a:spcPct val="125000"/>
              </a:lnSpc>
              <a:buNone/>
            </a:pPr>
            <a:r>
              <a:rPr lang="en-US" sz="1100" dirty="0">
                <a:solidFill>
                  <a:srgbClr val="5B6C70"/>
                </a:solidFill>
                <a:latin typeface="Calibri" pitchFamily="34" charset="0"/>
                <a:ea typeface="Calibri" pitchFamily="34" charset="-122"/>
                <a:cs typeface="Calibri" pitchFamily="34" charset="-120"/>
              </a:rPr>
              <a:t>Impersonating a CEO, IT admin, or government agency so you comply without question.</a:t>
            </a:r>
            <a:endParaRPr lang="en-US" sz="1100" dirty="0"/>
          </a:p>
        </p:txBody>
      </p:sp>
      <p:sp>
        <p:nvSpPr>
          <p:cNvPr id="13" name="Shape 9"/>
          <p:cNvSpPr/>
          <p:nvPr/>
        </p:nvSpPr>
        <p:spPr>
          <a:xfrm>
            <a:off x="8229600" y="2057400"/>
            <a:ext cx="502920" cy="502920"/>
          </a:xfrm>
          <a:prstGeom prst="ellipse">
            <a:avLst/>
          </a:prstGeom>
          <a:solidFill>
            <a:srgbClr val="00A896"/>
          </a:solidFill>
          <a:ln/>
        </p:spPr>
      </p:sp>
      <p:pic>
        <p:nvPicPr>
          <p:cNvPr id="14" name="Image 2" descr="/home/claude/phishing/icon_alert_navy.png"/>
          <p:cNvPicPr>
            <a:picLocks noChangeAspect="1"/>
          </p:cNvPicPr>
          <p:nvPr/>
        </p:nvPicPr>
        <p:blipFill>
          <a:blip r:embed="rId5"/>
          <a:stretch>
            <a:fillRect/>
          </a:stretch>
        </p:blipFill>
        <p:spPr>
          <a:xfrm>
            <a:off x="8339328" y="2167128"/>
            <a:ext cx="283464" cy="283464"/>
          </a:xfrm>
          <a:prstGeom prst="rect">
            <a:avLst/>
          </a:prstGeom>
        </p:spPr>
      </p:pic>
      <p:sp>
        <p:nvSpPr>
          <p:cNvPr id="15" name="Text 10"/>
          <p:cNvSpPr/>
          <p:nvPr/>
        </p:nvSpPr>
        <p:spPr>
          <a:xfrm>
            <a:off x="8869680" y="2011680"/>
            <a:ext cx="2926080" cy="365760"/>
          </a:xfrm>
          <a:prstGeom prst="rect">
            <a:avLst/>
          </a:prstGeom>
          <a:noFill/>
          <a:ln/>
        </p:spPr>
        <p:txBody>
          <a:bodyPr wrap="square" rtlCol="0" anchor="ctr"/>
          <a:lstStyle/>
          <a:p>
            <a:pPr marL="0" indent="0">
              <a:buNone/>
            </a:pPr>
            <a:r>
              <a:rPr lang="en-US" sz="1400" b="1" dirty="0">
                <a:solidFill>
                  <a:srgbClr val="1B2B2E"/>
                </a:solidFill>
                <a:latin typeface="Calibri" pitchFamily="34" charset="0"/>
                <a:ea typeface="Calibri" pitchFamily="34" charset="-122"/>
                <a:cs typeface="Calibri" pitchFamily="34" charset="-120"/>
              </a:rPr>
              <a:t>Fear</a:t>
            </a:r>
            <a:endParaRPr lang="en-US" sz="1400" dirty="0"/>
          </a:p>
        </p:txBody>
      </p:sp>
      <p:sp>
        <p:nvSpPr>
          <p:cNvPr id="16" name="Text 11"/>
          <p:cNvSpPr/>
          <p:nvPr/>
        </p:nvSpPr>
        <p:spPr>
          <a:xfrm>
            <a:off x="8229600" y="2651760"/>
            <a:ext cx="3566160" cy="1097280"/>
          </a:xfrm>
          <a:prstGeom prst="rect">
            <a:avLst/>
          </a:prstGeom>
          <a:noFill/>
          <a:ln/>
        </p:spPr>
        <p:txBody>
          <a:bodyPr wrap="square" rtlCol="0" anchor="ctr"/>
          <a:lstStyle/>
          <a:p>
            <a:pPr marL="0" indent="0">
              <a:lnSpc>
                <a:spcPct val="125000"/>
              </a:lnSpc>
              <a:buNone/>
            </a:pPr>
            <a:r>
              <a:rPr lang="en-US" sz="1100" dirty="0">
                <a:solidFill>
                  <a:srgbClr val="5B6C70"/>
                </a:solidFill>
                <a:latin typeface="Calibri" pitchFamily="34" charset="0"/>
                <a:ea typeface="Calibri" pitchFamily="34" charset="-122"/>
                <a:cs typeface="Calibri" pitchFamily="34" charset="-120"/>
              </a:rPr>
              <a:t>Threats of fines, account suspension, or legal trouble to provoke a panicked click.</a:t>
            </a:r>
            <a:endParaRPr lang="en-US" sz="1100" dirty="0"/>
          </a:p>
        </p:txBody>
      </p:sp>
      <p:sp>
        <p:nvSpPr>
          <p:cNvPr id="17" name="Shape 12"/>
          <p:cNvSpPr/>
          <p:nvPr/>
        </p:nvSpPr>
        <p:spPr>
          <a:xfrm>
            <a:off x="640080" y="4142232"/>
            <a:ext cx="502920" cy="502920"/>
          </a:xfrm>
          <a:prstGeom prst="ellipse">
            <a:avLst/>
          </a:prstGeom>
          <a:solidFill>
            <a:srgbClr val="00A896"/>
          </a:solidFill>
          <a:ln/>
        </p:spPr>
      </p:sp>
      <p:pic>
        <p:nvPicPr>
          <p:cNvPr id="18" name="Image 3" descr="/home/claude/phishing/icon_help_navy.png"/>
          <p:cNvPicPr>
            <a:picLocks noChangeAspect="1"/>
          </p:cNvPicPr>
          <p:nvPr/>
        </p:nvPicPr>
        <p:blipFill>
          <a:blip r:embed="rId3"/>
          <a:stretch>
            <a:fillRect/>
          </a:stretch>
        </p:blipFill>
        <p:spPr>
          <a:xfrm>
            <a:off x="749808" y="4251960"/>
            <a:ext cx="283464" cy="283464"/>
          </a:xfrm>
          <a:prstGeom prst="rect">
            <a:avLst/>
          </a:prstGeom>
        </p:spPr>
      </p:pic>
      <p:sp>
        <p:nvSpPr>
          <p:cNvPr id="19" name="Text 13"/>
          <p:cNvSpPr/>
          <p:nvPr/>
        </p:nvSpPr>
        <p:spPr>
          <a:xfrm>
            <a:off x="1280160" y="4096512"/>
            <a:ext cx="2926080" cy="365760"/>
          </a:xfrm>
          <a:prstGeom prst="rect">
            <a:avLst/>
          </a:prstGeom>
          <a:noFill/>
          <a:ln/>
        </p:spPr>
        <p:txBody>
          <a:bodyPr wrap="square" rtlCol="0" anchor="ctr"/>
          <a:lstStyle/>
          <a:p>
            <a:pPr marL="0" indent="0">
              <a:buNone/>
            </a:pPr>
            <a:r>
              <a:rPr lang="en-US" sz="1400" b="1" dirty="0">
                <a:solidFill>
                  <a:srgbClr val="1B2B2E"/>
                </a:solidFill>
                <a:latin typeface="Calibri" pitchFamily="34" charset="0"/>
                <a:ea typeface="Calibri" pitchFamily="34" charset="-122"/>
                <a:cs typeface="Calibri" pitchFamily="34" charset="-120"/>
              </a:rPr>
              <a:t>Curiosity</a:t>
            </a:r>
            <a:endParaRPr lang="en-US" sz="1400" dirty="0"/>
          </a:p>
        </p:txBody>
      </p:sp>
      <p:sp>
        <p:nvSpPr>
          <p:cNvPr id="20" name="Text 14"/>
          <p:cNvSpPr/>
          <p:nvPr/>
        </p:nvSpPr>
        <p:spPr>
          <a:xfrm>
            <a:off x="640080" y="4736592"/>
            <a:ext cx="3566160" cy="1097280"/>
          </a:xfrm>
          <a:prstGeom prst="rect">
            <a:avLst/>
          </a:prstGeom>
          <a:noFill/>
          <a:ln/>
        </p:spPr>
        <p:txBody>
          <a:bodyPr wrap="square" rtlCol="0" anchor="ctr"/>
          <a:lstStyle/>
          <a:p>
            <a:pPr marL="0" indent="0">
              <a:lnSpc>
                <a:spcPct val="125000"/>
              </a:lnSpc>
              <a:buNone/>
            </a:pPr>
            <a:r>
              <a:rPr lang="en-US" sz="1100" dirty="0">
                <a:solidFill>
                  <a:srgbClr val="5B6C70"/>
                </a:solidFill>
                <a:latin typeface="Calibri" pitchFamily="34" charset="0"/>
                <a:ea typeface="Calibri" pitchFamily="34" charset="-122"/>
                <a:cs typeface="Calibri" pitchFamily="34" charset="-120"/>
              </a:rPr>
              <a:t>“See who viewed your profile” or an unexpected invoice attachment you feel compelled to open.</a:t>
            </a:r>
            <a:endParaRPr lang="en-US" sz="1100" dirty="0"/>
          </a:p>
        </p:txBody>
      </p:sp>
      <p:sp>
        <p:nvSpPr>
          <p:cNvPr id="21" name="Shape 15"/>
          <p:cNvSpPr/>
          <p:nvPr/>
        </p:nvSpPr>
        <p:spPr>
          <a:xfrm>
            <a:off x="4434840" y="4142232"/>
            <a:ext cx="502920" cy="502920"/>
          </a:xfrm>
          <a:prstGeom prst="ellipse">
            <a:avLst/>
          </a:prstGeom>
          <a:solidFill>
            <a:srgbClr val="00A896"/>
          </a:solidFill>
          <a:ln/>
        </p:spPr>
      </p:sp>
      <p:pic>
        <p:nvPicPr>
          <p:cNvPr id="22" name="Image 4" descr="/home/claude/phishing/icon_target_navy.png"/>
          <p:cNvPicPr>
            <a:picLocks noChangeAspect="1"/>
          </p:cNvPicPr>
          <p:nvPr/>
        </p:nvPicPr>
        <p:blipFill>
          <a:blip r:embed="rId3"/>
          <a:stretch>
            <a:fillRect/>
          </a:stretch>
        </p:blipFill>
        <p:spPr>
          <a:xfrm>
            <a:off x="4544568" y="4251960"/>
            <a:ext cx="283464" cy="283464"/>
          </a:xfrm>
          <a:prstGeom prst="rect">
            <a:avLst/>
          </a:prstGeom>
        </p:spPr>
      </p:pic>
      <p:sp>
        <p:nvSpPr>
          <p:cNvPr id="23" name="Text 16"/>
          <p:cNvSpPr/>
          <p:nvPr/>
        </p:nvSpPr>
        <p:spPr>
          <a:xfrm>
            <a:off x="5074920" y="4096512"/>
            <a:ext cx="2926080" cy="365760"/>
          </a:xfrm>
          <a:prstGeom prst="rect">
            <a:avLst/>
          </a:prstGeom>
          <a:noFill/>
          <a:ln/>
        </p:spPr>
        <p:txBody>
          <a:bodyPr wrap="square" rtlCol="0" anchor="ctr"/>
          <a:lstStyle/>
          <a:p>
            <a:pPr marL="0" indent="0">
              <a:buNone/>
            </a:pPr>
            <a:r>
              <a:rPr lang="en-US" sz="1400" b="1" dirty="0">
                <a:solidFill>
                  <a:srgbClr val="1B2B2E"/>
                </a:solidFill>
                <a:latin typeface="Calibri" pitchFamily="34" charset="0"/>
                <a:ea typeface="Calibri" pitchFamily="34" charset="-122"/>
                <a:cs typeface="Calibri" pitchFamily="34" charset="-120"/>
              </a:rPr>
              <a:t>Familiarity</a:t>
            </a:r>
            <a:endParaRPr lang="en-US" sz="1400" dirty="0"/>
          </a:p>
        </p:txBody>
      </p:sp>
      <p:sp>
        <p:nvSpPr>
          <p:cNvPr id="24" name="Text 17"/>
          <p:cNvSpPr/>
          <p:nvPr/>
        </p:nvSpPr>
        <p:spPr>
          <a:xfrm>
            <a:off x="4434840" y="4736592"/>
            <a:ext cx="3566160" cy="1097280"/>
          </a:xfrm>
          <a:prstGeom prst="rect">
            <a:avLst/>
          </a:prstGeom>
          <a:noFill/>
          <a:ln/>
        </p:spPr>
        <p:txBody>
          <a:bodyPr wrap="square" rtlCol="0" anchor="ctr"/>
          <a:lstStyle/>
          <a:p>
            <a:pPr marL="0" indent="0">
              <a:lnSpc>
                <a:spcPct val="125000"/>
              </a:lnSpc>
              <a:buNone/>
            </a:pPr>
            <a:r>
              <a:rPr lang="en-US" sz="1100" dirty="0">
                <a:solidFill>
                  <a:srgbClr val="5B6C70"/>
                </a:solidFill>
                <a:latin typeface="Calibri" pitchFamily="34" charset="0"/>
                <a:ea typeface="Calibri" pitchFamily="34" charset="-122"/>
                <a:cs typeface="Calibri" pitchFamily="34" charset="-120"/>
              </a:rPr>
              <a:t>Spoofing a real coworker, vendor, or ongoing email thread to feel unremarkable.</a:t>
            </a:r>
            <a:endParaRPr lang="en-US" sz="1100" dirty="0"/>
          </a:p>
        </p:txBody>
      </p:sp>
      <p:sp>
        <p:nvSpPr>
          <p:cNvPr id="25" name="Shape 18"/>
          <p:cNvSpPr/>
          <p:nvPr/>
        </p:nvSpPr>
        <p:spPr>
          <a:xfrm>
            <a:off x="8229600" y="4142232"/>
            <a:ext cx="502920" cy="502920"/>
          </a:xfrm>
          <a:prstGeom prst="ellipse">
            <a:avLst/>
          </a:prstGeom>
          <a:solidFill>
            <a:srgbClr val="00A896"/>
          </a:solidFill>
          <a:ln/>
        </p:spPr>
      </p:sp>
      <p:pic>
        <p:nvPicPr>
          <p:cNvPr id="26" name="Image 5" descr="/home/claude/phishing/icon_download_navy.png"/>
          <p:cNvPicPr>
            <a:picLocks noChangeAspect="1"/>
          </p:cNvPicPr>
          <p:nvPr/>
        </p:nvPicPr>
        <p:blipFill>
          <a:blip r:embed="rId6"/>
          <a:stretch>
            <a:fillRect/>
          </a:stretch>
        </p:blipFill>
        <p:spPr>
          <a:xfrm>
            <a:off x="8339328" y="4251960"/>
            <a:ext cx="283464" cy="283464"/>
          </a:xfrm>
          <a:prstGeom prst="rect">
            <a:avLst/>
          </a:prstGeom>
        </p:spPr>
      </p:pic>
      <p:sp>
        <p:nvSpPr>
          <p:cNvPr id="27" name="Text 19"/>
          <p:cNvSpPr/>
          <p:nvPr/>
        </p:nvSpPr>
        <p:spPr>
          <a:xfrm>
            <a:off x="8869680" y="4096512"/>
            <a:ext cx="2926080" cy="365760"/>
          </a:xfrm>
          <a:prstGeom prst="rect">
            <a:avLst/>
          </a:prstGeom>
          <a:noFill/>
          <a:ln/>
        </p:spPr>
        <p:txBody>
          <a:bodyPr wrap="square" rtlCol="0" anchor="ctr"/>
          <a:lstStyle/>
          <a:p>
            <a:pPr marL="0" indent="0">
              <a:buNone/>
            </a:pPr>
            <a:r>
              <a:rPr lang="en-US" sz="1400" b="1" dirty="0">
                <a:solidFill>
                  <a:srgbClr val="1B2B2E"/>
                </a:solidFill>
                <a:latin typeface="Calibri" pitchFamily="34" charset="0"/>
                <a:ea typeface="Calibri" pitchFamily="34" charset="-122"/>
                <a:cs typeface="Calibri" pitchFamily="34" charset="-120"/>
              </a:rPr>
              <a:t>Reciprocity &amp; reward</a:t>
            </a:r>
            <a:endParaRPr lang="en-US" sz="1400" dirty="0"/>
          </a:p>
        </p:txBody>
      </p:sp>
      <p:sp>
        <p:nvSpPr>
          <p:cNvPr id="28" name="Text 20"/>
          <p:cNvSpPr/>
          <p:nvPr/>
        </p:nvSpPr>
        <p:spPr>
          <a:xfrm>
            <a:off x="8229600" y="4736592"/>
            <a:ext cx="3566160" cy="1097280"/>
          </a:xfrm>
          <a:prstGeom prst="rect">
            <a:avLst/>
          </a:prstGeom>
          <a:noFill/>
          <a:ln/>
        </p:spPr>
        <p:txBody>
          <a:bodyPr wrap="square" rtlCol="0" anchor="ctr"/>
          <a:lstStyle/>
          <a:p>
            <a:pPr marL="0" indent="0">
              <a:lnSpc>
                <a:spcPct val="125000"/>
              </a:lnSpc>
              <a:buNone/>
            </a:pPr>
            <a:r>
              <a:rPr lang="en-US" sz="1100" dirty="0">
                <a:solidFill>
                  <a:srgbClr val="5B6C70"/>
                </a:solidFill>
                <a:latin typeface="Calibri" pitchFamily="34" charset="0"/>
                <a:ea typeface="Calibri" pitchFamily="34" charset="-122"/>
                <a:cs typeface="Calibri" pitchFamily="34" charset="-120"/>
              </a:rPr>
              <a:t>A fake gift card, refund, or prize that trades a small click for a big payoff.</a:t>
            </a:r>
            <a:endParaRPr lang="en-US" sz="1100" dirty="0"/>
          </a:p>
        </p:txBody>
      </p:sp>
      <p:sp>
        <p:nvSpPr>
          <p:cNvPr id="29" name="Text 21"/>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30" name="Text 22"/>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AFA"/>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B1F2A"/>
          </a:solidFill>
          <a:ln/>
        </p:spPr>
      </p:sp>
      <p:sp>
        <p:nvSpPr>
          <p:cNvPr id="3" name="Shape 1"/>
          <p:cNvSpPr/>
          <p:nvPr/>
        </p:nvSpPr>
        <p:spPr>
          <a:xfrm>
            <a:off x="640080" y="640080"/>
            <a:ext cx="731520" cy="731520"/>
          </a:xfrm>
          <a:prstGeom prst="ellipse">
            <a:avLst/>
          </a:prstGeom>
          <a:solidFill>
            <a:srgbClr val="028090"/>
          </a:solidFill>
          <a:ln/>
        </p:spPr>
      </p:sp>
      <p:pic>
        <p:nvPicPr>
          <p:cNvPr id="4" name="Image 0" descr="/home/claude/phishing/icon_card_white.png"/>
          <p:cNvPicPr>
            <a:picLocks noChangeAspect="1"/>
          </p:cNvPicPr>
          <p:nvPr/>
        </p:nvPicPr>
        <p:blipFill>
          <a:blip r:embed="rId3"/>
          <a:stretch>
            <a:fillRect/>
          </a:stretch>
        </p:blipFill>
        <p:spPr>
          <a:xfrm>
            <a:off x="830275" y="830275"/>
            <a:ext cx="351130" cy="351130"/>
          </a:xfrm>
          <a:prstGeom prst="rect">
            <a:avLst/>
          </a:prstGeom>
        </p:spPr>
      </p:pic>
      <p:sp>
        <p:nvSpPr>
          <p:cNvPr id="5" name="Text 2"/>
          <p:cNvSpPr/>
          <p:nvPr/>
        </p:nvSpPr>
        <p:spPr>
          <a:xfrm>
            <a:off x="640080" y="1600200"/>
            <a:ext cx="3200400" cy="320040"/>
          </a:xfrm>
          <a:prstGeom prst="rect">
            <a:avLst/>
          </a:prstGeom>
          <a:noFill/>
          <a:ln/>
        </p:spPr>
        <p:txBody>
          <a:bodyPr wrap="square"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CASE STUDY 01</a:t>
            </a:r>
            <a:endParaRPr lang="en-US" sz="1200" dirty="0"/>
          </a:p>
        </p:txBody>
      </p:sp>
      <p:sp>
        <p:nvSpPr>
          <p:cNvPr id="6" name="Text 3"/>
          <p:cNvSpPr/>
          <p:nvPr/>
        </p:nvSpPr>
        <p:spPr>
          <a:xfrm>
            <a:off x="640080" y="1965960"/>
            <a:ext cx="3200400" cy="1371600"/>
          </a:xfrm>
          <a:prstGeom prst="rect">
            <a:avLst/>
          </a:prstGeom>
          <a:noFill/>
          <a:ln/>
        </p:spPr>
        <p:txBody>
          <a:bodyPr wrap="square" rtlCol="0" anchor="ctr"/>
          <a:lstStyle/>
          <a:p>
            <a:pPr marL="0" indent="0">
              <a:lnSpc>
                <a:spcPct val="105000"/>
              </a:lnSpc>
              <a:buNone/>
            </a:pPr>
            <a:r>
              <a:rPr lang="en-US" sz="2800" b="1" dirty="0">
                <a:solidFill>
                  <a:srgbClr val="FFFFFF"/>
                </a:solidFill>
                <a:latin typeface="Cambria" pitchFamily="34" charset="0"/>
                <a:ea typeface="Cambria" pitchFamily="34" charset="-122"/>
                <a:cs typeface="Cambria" pitchFamily="34" charset="-120"/>
              </a:rPr>
              <a:t>The $100M</a:t>
            </a:r>
            <a:endParaRPr lang="en-US" sz="2800" dirty="0"/>
          </a:p>
          <a:p>
            <a:pPr marL="0" indent="0">
              <a:lnSpc>
                <a:spcPct val="105000"/>
              </a:lnSpc>
              <a:buNone/>
            </a:pPr>
            <a:r>
              <a:rPr lang="en-US" sz="2800" b="1" dirty="0">
                <a:solidFill>
                  <a:srgbClr val="FFFFFF"/>
                </a:solidFill>
                <a:latin typeface="Cambria" pitchFamily="34" charset="0"/>
                <a:ea typeface="Cambria" pitchFamily="34" charset="-122"/>
                <a:cs typeface="Cambria" pitchFamily="34" charset="-120"/>
              </a:rPr>
              <a:t>Invoice Scam</a:t>
            </a:r>
            <a:endParaRPr lang="en-US" sz="2800" dirty="0"/>
          </a:p>
        </p:txBody>
      </p:sp>
      <p:sp>
        <p:nvSpPr>
          <p:cNvPr id="7" name="Text 4"/>
          <p:cNvSpPr/>
          <p:nvPr/>
        </p:nvSpPr>
        <p:spPr>
          <a:xfrm>
            <a:off x="640080" y="3383280"/>
            <a:ext cx="3200400" cy="365760"/>
          </a:xfrm>
          <a:prstGeom prst="rect">
            <a:avLst/>
          </a:prstGeom>
          <a:noFill/>
          <a:ln/>
        </p:spPr>
        <p:txBody>
          <a:bodyPr wrap="square" rtlCol="0" anchor="ctr"/>
          <a:lstStyle/>
          <a:p>
            <a:pPr marL="0" indent="0">
              <a:buNone/>
            </a:pPr>
            <a:r>
              <a:rPr lang="en-US" sz="1300" dirty="0">
                <a:solidFill>
                  <a:srgbClr val="AFC6CC"/>
                </a:solidFill>
                <a:latin typeface="Calibri" pitchFamily="34" charset="0"/>
                <a:ea typeface="Calibri" pitchFamily="34" charset="-122"/>
                <a:cs typeface="Calibri" pitchFamily="34" charset="-120"/>
              </a:rPr>
              <a:t>Google &amp; Facebook, 2013–2015</a:t>
            </a:r>
            <a:endParaRPr lang="en-US" sz="1300" dirty="0"/>
          </a:p>
        </p:txBody>
      </p:sp>
      <p:sp>
        <p:nvSpPr>
          <p:cNvPr id="8" name="Text 5"/>
          <p:cNvSpPr/>
          <p:nvPr/>
        </p:nvSpPr>
        <p:spPr>
          <a:xfrm>
            <a:off x="640080" y="5120640"/>
            <a:ext cx="3200400" cy="822960"/>
          </a:xfrm>
          <a:prstGeom prst="rect">
            <a:avLst/>
          </a:prstGeom>
          <a:noFill/>
          <a:ln/>
        </p:spPr>
        <p:txBody>
          <a:bodyPr wrap="square" rtlCol="0" anchor="ctr"/>
          <a:lstStyle/>
          <a:p>
            <a:pPr marL="0" indent="0">
              <a:buNone/>
            </a:pPr>
            <a:r>
              <a:rPr lang="en-US" sz="4000" b="1" dirty="0">
                <a:solidFill>
                  <a:srgbClr val="00A896"/>
                </a:solidFill>
                <a:latin typeface="Cambria" pitchFamily="34" charset="0"/>
                <a:ea typeface="Cambria" pitchFamily="34" charset="-122"/>
                <a:cs typeface="Cambria" pitchFamily="34" charset="-120"/>
              </a:rPr>
              <a:t>$100M</a:t>
            </a:r>
            <a:endParaRPr lang="en-US" sz="4000" dirty="0"/>
          </a:p>
        </p:txBody>
      </p:sp>
      <p:sp>
        <p:nvSpPr>
          <p:cNvPr id="9" name="Text 6"/>
          <p:cNvSpPr/>
          <p:nvPr/>
        </p:nvSpPr>
        <p:spPr>
          <a:xfrm>
            <a:off x="640080" y="5897880"/>
            <a:ext cx="3200400" cy="548640"/>
          </a:xfrm>
          <a:prstGeom prst="rect">
            <a:avLst/>
          </a:prstGeom>
          <a:noFill/>
          <a:ln/>
        </p:spPr>
        <p:txBody>
          <a:bodyPr wrap="square" rtlCol="0" anchor="ctr"/>
          <a:lstStyle/>
          <a:p>
            <a:pPr marL="0" indent="0">
              <a:buNone/>
            </a:pPr>
            <a:r>
              <a:rPr lang="en-US" sz="1150" dirty="0">
                <a:solidFill>
                  <a:srgbClr val="AFC6CC"/>
                </a:solidFill>
                <a:latin typeface="Calibri" pitchFamily="34" charset="0"/>
                <a:ea typeface="Calibri" pitchFamily="34" charset="-122"/>
                <a:cs typeface="Calibri" pitchFamily="34" charset="-120"/>
              </a:rPr>
              <a:t>paid out to a fabricated vendor over two years</a:t>
            </a:r>
            <a:endParaRPr lang="en-US" sz="1150" dirty="0"/>
          </a:p>
        </p:txBody>
      </p:sp>
      <p:sp>
        <p:nvSpPr>
          <p:cNvPr id="10" name="Text 7"/>
          <p:cNvSpPr/>
          <p:nvPr/>
        </p:nvSpPr>
        <p:spPr>
          <a:xfrm>
            <a:off x="4663440" y="685800"/>
            <a:ext cx="6675120" cy="457200"/>
          </a:xfrm>
          <a:prstGeom prst="rect">
            <a:avLst/>
          </a:prstGeom>
          <a:noFill/>
          <a:ln/>
        </p:spPr>
        <p:txBody>
          <a:bodyPr wrap="square" rtlCol="0" anchor="ctr"/>
          <a:lstStyle/>
          <a:p>
            <a:pPr marL="0" indent="0">
              <a:buNone/>
            </a:pPr>
            <a:r>
              <a:rPr lang="en-US" sz="2000" b="1" dirty="0">
                <a:solidFill>
                  <a:srgbClr val="0B1F2A"/>
                </a:solidFill>
                <a:latin typeface="Cambria" pitchFamily="34" charset="0"/>
                <a:ea typeface="Cambria" pitchFamily="34" charset="-122"/>
                <a:cs typeface="Cambria" pitchFamily="34" charset="-120"/>
              </a:rPr>
              <a:t>What happened</a:t>
            </a:r>
            <a:endParaRPr lang="en-US" sz="2000" dirty="0"/>
          </a:p>
        </p:txBody>
      </p:sp>
      <p:sp>
        <p:nvSpPr>
          <p:cNvPr id="11" name="Text 8"/>
          <p:cNvSpPr/>
          <p:nvPr/>
        </p:nvSpPr>
        <p:spPr>
          <a:xfrm>
            <a:off x="4663440" y="1234440"/>
            <a:ext cx="6675120" cy="1737360"/>
          </a:xfrm>
          <a:prstGeom prst="rect">
            <a:avLst/>
          </a:prstGeom>
          <a:noFill/>
          <a:ln/>
        </p:spPr>
        <p:txBody>
          <a:bodyPr wrap="square" rtlCol="0" anchor="ctr"/>
          <a:lstStyle/>
          <a:p>
            <a:pPr marL="0" indent="0">
              <a:lnSpc>
                <a:spcPct val="135000"/>
              </a:lnSpc>
              <a:spcAft>
                <a:spcPts val="1200"/>
              </a:spcAft>
              <a:buNone/>
            </a:pPr>
            <a:r>
              <a:rPr lang="en-US" sz="1300" dirty="0">
                <a:solidFill>
                  <a:srgbClr val="35474B"/>
                </a:solidFill>
                <a:latin typeface="Calibri" pitchFamily="34" charset="0"/>
                <a:ea typeface="Calibri" pitchFamily="34" charset="-122"/>
                <a:cs typeface="Calibri" pitchFamily="34" charset="-120"/>
              </a:rPr>
              <a:t>An attacker set up a company with a name nearly identical to a real hardware supplier both companies already worked with, then sent convincing forged invoices, contracts, and letters requesting wire payments.</a:t>
            </a:r>
            <a:endParaRPr lang="en-US" sz="1300" dirty="0"/>
          </a:p>
          <a:p>
            <a:pPr marL="0" indent="0">
              <a:lnSpc>
                <a:spcPct val="135000"/>
              </a:lnSpc>
              <a:buNone/>
            </a:pPr>
            <a:r>
              <a:rPr lang="en-US" sz="1300" dirty="0">
                <a:solidFill>
                  <a:srgbClr val="35474B"/>
                </a:solidFill>
                <a:latin typeface="Calibri" pitchFamily="34" charset="0"/>
                <a:ea typeface="Calibri" pitchFamily="34" charset="-122"/>
                <a:cs typeface="Calibri" pitchFamily="34" charset="-120"/>
              </a:rPr>
              <a:t>Because the paperwork mirrored real vendor correspondence and used a look-alike company name, finance staff at both organizations approved the transfers as routine business payments.</a:t>
            </a:r>
            <a:endParaRPr lang="en-US" sz="1300" dirty="0"/>
          </a:p>
        </p:txBody>
      </p:sp>
      <p:sp>
        <p:nvSpPr>
          <p:cNvPr id="12" name="Text 9"/>
          <p:cNvSpPr/>
          <p:nvPr/>
        </p:nvSpPr>
        <p:spPr>
          <a:xfrm>
            <a:off x="4663440" y="3154680"/>
            <a:ext cx="6675120" cy="411480"/>
          </a:xfrm>
          <a:prstGeom prst="rect">
            <a:avLst/>
          </a:prstGeom>
          <a:noFill/>
          <a:ln/>
        </p:spPr>
        <p:txBody>
          <a:bodyPr wrap="square" rtlCol="0" anchor="ctr"/>
          <a:lstStyle/>
          <a:p>
            <a:pPr marL="0" indent="0">
              <a:buNone/>
            </a:pPr>
            <a:r>
              <a:rPr lang="en-US" sz="1800" b="1" dirty="0">
                <a:solidFill>
                  <a:srgbClr val="0B1F2A"/>
                </a:solidFill>
                <a:latin typeface="Cambria" pitchFamily="34" charset="0"/>
                <a:ea typeface="Cambria" pitchFamily="34" charset="-122"/>
                <a:cs typeface="Cambria" pitchFamily="34" charset="-120"/>
              </a:rPr>
              <a:t>Why it worked</a:t>
            </a:r>
            <a:endParaRPr lang="en-US" sz="1800" dirty="0"/>
          </a:p>
        </p:txBody>
      </p:sp>
      <p:sp>
        <p:nvSpPr>
          <p:cNvPr id="13" name="Text 10"/>
          <p:cNvSpPr/>
          <p:nvPr/>
        </p:nvSpPr>
        <p:spPr>
          <a:xfrm>
            <a:off x="4663440" y="3611880"/>
            <a:ext cx="6675120" cy="1463040"/>
          </a:xfrm>
          <a:prstGeom prst="rect">
            <a:avLst/>
          </a:prstGeom>
          <a:noFill/>
          <a:ln/>
        </p:spPr>
        <p:txBody>
          <a:bodyPr wrap="square" rtlCol="0" anchor="ctr"/>
          <a:lstStyle/>
          <a:p>
            <a:pPr marL="342900" indent="-342900">
              <a:spcAft>
                <a:spcPts val="800"/>
              </a:spcAft>
              <a:buSzPct val="100000"/>
              <a:buChar char="•"/>
            </a:pPr>
            <a:r>
              <a:rPr lang="en-US" sz="1250" dirty="0">
                <a:solidFill>
                  <a:srgbClr val="35474B"/>
                </a:solidFill>
                <a:latin typeface="Calibri" pitchFamily="34" charset="0"/>
                <a:ea typeface="Calibri" pitchFamily="34" charset="-122"/>
                <a:cs typeface="Calibri" pitchFamily="34" charset="-120"/>
              </a:rPr>
              <a:t>A look-alike company name exploited familiarity with a real vendor</a:t>
            </a:r>
            <a:endParaRPr lang="en-US" sz="1250" dirty="0"/>
          </a:p>
          <a:p>
            <a:pPr marL="342900" indent="-342900">
              <a:spcAft>
                <a:spcPts val="800"/>
              </a:spcAft>
              <a:buSzPct val="100000"/>
              <a:buChar char="•"/>
            </a:pPr>
            <a:r>
              <a:rPr lang="en-US" sz="1250" dirty="0">
                <a:solidFill>
                  <a:srgbClr val="35474B"/>
                </a:solidFill>
                <a:latin typeface="Calibri" pitchFamily="34" charset="0"/>
                <a:ea typeface="Calibri" pitchFamily="34" charset="-122"/>
                <a:cs typeface="Calibri" pitchFamily="34" charset="-120"/>
              </a:rPr>
              <a:t>Forged invoices and contracts matched the real business relationship</a:t>
            </a:r>
            <a:endParaRPr lang="en-US" sz="1250" dirty="0"/>
          </a:p>
          <a:p>
            <a:pPr marL="342900" indent="-342900">
              <a:spcAft>
                <a:spcPts val="800"/>
              </a:spcAft>
              <a:buSzPct val="100000"/>
              <a:buChar char="•"/>
            </a:pPr>
            <a:r>
              <a:rPr lang="en-US" sz="1250" dirty="0">
                <a:solidFill>
                  <a:srgbClr val="35474B"/>
                </a:solidFill>
                <a:latin typeface="Calibri" pitchFamily="34" charset="0"/>
                <a:ea typeface="Calibri" pitchFamily="34" charset="-122"/>
                <a:cs typeface="Calibri" pitchFamily="34" charset="-120"/>
              </a:rPr>
              <a:t>Large organizations' payment approval steps didn't independently verify the vendor</a:t>
            </a:r>
            <a:endParaRPr lang="en-US" sz="1250" dirty="0"/>
          </a:p>
        </p:txBody>
      </p:sp>
      <p:sp>
        <p:nvSpPr>
          <p:cNvPr id="14" name="Shape 11"/>
          <p:cNvSpPr/>
          <p:nvPr/>
        </p:nvSpPr>
        <p:spPr>
          <a:xfrm>
            <a:off x="4663440" y="5212080"/>
            <a:ext cx="6675120" cy="914400"/>
          </a:xfrm>
          <a:prstGeom prst="roundRect">
            <a:avLst>
              <a:gd name="adj" fmla="val 8000"/>
            </a:avLst>
          </a:prstGeom>
          <a:solidFill>
            <a:srgbClr val="E9F1F1"/>
          </a:solidFill>
          <a:ln/>
        </p:spPr>
      </p:sp>
      <p:sp>
        <p:nvSpPr>
          <p:cNvPr id="15" name="Shape 12"/>
          <p:cNvSpPr/>
          <p:nvPr/>
        </p:nvSpPr>
        <p:spPr>
          <a:xfrm>
            <a:off x="4892040" y="5394960"/>
            <a:ext cx="457200" cy="457200"/>
          </a:xfrm>
          <a:prstGeom prst="ellipse">
            <a:avLst/>
          </a:prstGeom>
          <a:solidFill>
            <a:srgbClr val="028090"/>
          </a:solidFill>
          <a:ln/>
        </p:spPr>
      </p:sp>
      <p:pic>
        <p:nvPicPr>
          <p:cNvPr id="16" name="Image 1" descr="/home/claude/phishing/icon_shield_white.png"/>
          <p:cNvPicPr>
            <a:picLocks noChangeAspect="1"/>
          </p:cNvPicPr>
          <p:nvPr/>
        </p:nvPicPr>
        <p:blipFill>
          <a:blip r:embed="rId4"/>
          <a:stretch>
            <a:fillRect/>
          </a:stretch>
        </p:blipFill>
        <p:spPr>
          <a:xfrm>
            <a:off x="5010912" y="5513832"/>
            <a:ext cx="219456" cy="219456"/>
          </a:xfrm>
          <a:prstGeom prst="rect">
            <a:avLst/>
          </a:prstGeom>
        </p:spPr>
      </p:pic>
      <p:sp>
        <p:nvSpPr>
          <p:cNvPr id="17" name="Text 13"/>
          <p:cNvSpPr/>
          <p:nvPr/>
        </p:nvSpPr>
        <p:spPr>
          <a:xfrm>
            <a:off x="5577840" y="5285232"/>
            <a:ext cx="5577840" cy="777240"/>
          </a:xfrm>
          <a:prstGeom prst="rect">
            <a:avLst/>
          </a:prstGeom>
          <a:noFill/>
          <a:ln/>
        </p:spPr>
        <p:txBody>
          <a:bodyPr wrap="square" rtlCol="0" anchor="ctr"/>
          <a:lstStyle/>
          <a:p>
            <a:pPr marL="0" indent="0">
              <a:lnSpc>
                <a:spcPct val="125000"/>
              </a:lnSpc>
              <a:buNone/>
            </a:pPr>
            <a:r>
              <a:rPr lang="en-US" sz="1100" i="1" dirty="0">
                <a:solidFill>
                  <a:srgbClr val="0B1F2A"/>
                </a:solidFill>
                <a:latin typeface="Calibri" pitchFamily="34" charset="0"/>
                <a:ea typeface="Calibri" pitchFamily="34" charset="-122"/>
                <a:cs typeface="Calibri" pitchFamily="34" charset="-120"/>
              </a:rPr>
              <a:t>Lesson: verify any change to vendor payment details through a second channel — a phone call to a known number, not a reply to the email.</a:t>
            </a:r>
            <a:endParaRPr lang="en-US" sz="1100" dirty="0"/>
          </a:p>
        </p:txBody>
      </p:sp>
      <p:sp>
        <p:nvSpPr>
          <p:cNvPr id="18" name="Text 14"/>
          <p:cNvSpPr/>
          <p:nvPr/>
        </p:nvSpPr>
        <p:spPr>
          <a:xfrm>
            <a:off x="4663440" y="6199632"/>
            <a:ext cx="6675120" cy="292608"/>
          </a:xfrm>
          <a:prstGeom prst="rect">
            <a:avLst/>
          </a:prstGeom>
          <a:noFill/>
          <a:ln/>
        </p:spPr>
        <p:txBody>
          <a:bodyPr wrap="square" rtlCol="0" anchor="ctr"/>
          <a:lstStyle/>
          <a:p>
            <a:pPr marL="0" indent="0">
              <a:buNone/>
            </a:pPr>
            <a:r>
              <a:rPr lang="en-US" sz="850" b="1" dirty="0">
                <a:solidFill>
                  <a:srgbClr val="8AA0A6"/>
                </a:solidFill>
                <a:latin typeface="Calibri" pitchFamily="34" charset="0"/>
                <a:ea typeface="Calibri" pitchFamily="34" charset="-122"/>
                <a:cs typeface="Calibri" pitchFamily="34" charset="-120"/>
              </a:rPr>
              <a:t>Source: </a:t>
            </a:r>
            <a:r>
              <a:rPr lang="en-US" sz="850" dirty="0">
                <a:solidFill>
                  <a:srgbClr val="8AA0A6"/>
                </a:solidFill>
                <a:latin typeface="Calibri" pitchFamily="34" charset="0"/>
                <a:ea typeface="Calibri" pitchFamily="34" charset="-122"/>
                <a:cs typeface="Calibri" pitchFamily="34" charset="-120"/>
              </a:rPr>
              <a:t>U.S. Department of Justice / SDNY, U.S. v. Evaldas Rimasauskas (2013–2015); reported by Reuters, CNBC, and NPR (2019).</a:t>
            </a:r>
            <a:endParaRPr lang="en-US" sz="850" dirty="0"/>
          </a:p>
        </p:txBody>
      </p:sp>
      <p:sp>
        <p:nvSpPr>
          <p:cNvPr id="19" name="Text 15"/>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20" name="Text 16"/>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AFA"/>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28090"/>
          </a:solidFill>
          <a:ln/>
        </p:spPr>
      </p:sp>
      <p:sp>
        <p:nvSpPr>
          <p:cNvPr id="3" name="Shape 1"/>
          <p:cNvSpPr/>
          <p:nvPr/>
        </p:nvSpPr>
        <p:spPr>
          <a:xfrm>
            <a:off x="640080" y="640080"/>
            <a:ext cx="731520" cy="731520"/>
          </a:xfrm>
          <a:prstGeom prst="ellipse">
            <a:avLst/>
          </a:prstGeom>
          <a:solidFill>
            <a:srgbClr val="0B1F2A"/>
          </a:solidFill>
          <a:ln/>
        </p:spPr>
      </p:sp>
      <p:pic>
        <p:nvPicPr>
          <p:cNvPr id="4" name="Image 0" descr="/home/claude/phishing/icon_phone_white.png"/>
          <p:cNvPicPr>
            <a:picLocks noChangeAspect="1"/>
          </p:cNvPicPr>
          <p:nvPr/>
        </p:nvPicPr>
        <p:blipFill>
          <a:blip r:embed="rId3"/>
          <a:stretch>
            <a:fillRect/>
          </a:stretch>
        </p:blipFill>
        <p:spPr>
          <a:xfrm>
            <a:off x="830275" y="830275"/>
            <a:ext cx="351130" cy="351130"/>
          </a:xfrm>
          <a:prstGeom prst="rect">
            <a:avLst/>
          </a:prstGeom>
        </p:spPr>
      </p:pic>
      <p:sp>
        <p:nvSpPr>
          <p:cNvPr id="5" name="Text 2"/>
          <p:cNvSpPr/>
          <p:nvPr/>
        </p:nvSpPr>
        <p:spPr>
          <a:xfrm>
            <a:off x="640080" y="1600200"/>
            <a:ext cx="3200400" cy="320040"/>
          </a:xfrm>
          <a:prstGeom prst="rect">
            <a:avLst/>
          </a:prstGeom>
          <a:noFill/>
          <a:ln/>
        </p:spPr>
        <p:txBody>
          <a:bodyPr wrap="square" rtlCol="0" anchor="ctr"/>
          <a:lstStyle/>
          <a:p>
            <a:pPr marL="0" indent="0">
              <a:buNone/>
            </a:pPr>
            <a:r>
              <a:rPr lang="en-US" sz="1200" b="1" kern="0" spc="200" dirty="0">
                <a:solidFill>
                  <a:srgbClr val="0B1F2A"/>
                </a:solidFill>
                <a:latin typeface="Calibri" pitchFamily="34" charset="0"/>
                <a:ea typeface="Calibri" pitchFamily="34" charset="-122"/>
                <a:cs typeface="Calibri" pitchFamily="34" charset="-120"/>
              </a:rPr>
              <a:t>CASE STUDY 02</a:t>
            </a:r>
            <a:endParaRPr lang="en-US" sz="1200" dirty="0"/>
          </a:p>
        </p:txBody>
      </p:sp>
      <p:sp>
        <p:nvSpPr>
          <p:cNvPr id="6" name="Text 3"/>
          <p:cNvSpPr/>
          <p:nvPr/>
        </p:nvSpPr>
        <p:spPr>
          <a:xfrm>
            <a:off x="640080" y="1965960"/>
            <a:ext cx="3200400" cy="1371600"/>
          </a:xfrm>
          <a:prstGeom prst="rect">
            <a:avLst/>
          </a:prstGeom>
          <a:noFill/>
          <a:ln/>
        </p:spPr>
        <p:txBody>
          <a:bodyPr wrap="square" rtlCol="0" anchor="ctr"/>
          <a:lstStyle/>
          <a:p>
            <a:pPr marL="0" indent="0">
              <a:lnSpc>
                <a:spcPct val="105000"/>
              </a:lnSpc>
              <a:buNone/>
            </a:pPr>
            <a:r>
              <a:rPr lang="en-US" sz="2600" b="1" dirty="0">
                <a:solidFill>
                  <a:srgbClr val="FFFFFF"/>
                </a:solidFill>
                <a:latin typeface="Cambria" pitchFamily="34" charset="0"/>
                <a:ea typeface="Cambria" pitchFamily="34" charset="-122"/>
                <a:cs typeface="Cambria" pitchFamily="34" charset="-120"/>
              </a:rPr>
              <a:t>The Voice-Phishing</a:t>
            </a:r>
            <a:endParaRPr lang="en-US" sz="2600" dirty="0"/>
          </a:p>
          <a:p>
            <a:pPr marL="0" indent="0">
              <a:lnSpc>
                <a:spcPct val="105000"/>
              </a:lnSpc>
              <a:buNone/>
            </a:pPr>
            <a:r>
              <a:rPr lang="en-US" sz="2600" b="1" dirty="0">
                <a:solidFill>
                  <a:srgbClr val="FFFFFF"/>
                </a:solidFill>
                <a:latin typeface="Cambria" pitchFamily="34" charset="0"/>
                <a:ea typeface="Cambria" pitchFamily="34" charset="-122"/>
                <a:cs typeface="Cambria" pitchFamily="34" charset="-120"/>
              </a:rPr>
              <a:t>Takeover</a:t>
            </a:r>
            <a:endParaRPr lang="en-US" sz="2600" dirty="0"/>
          </a:p>
        </p:txBody>
      </p:sp>
      <p:sp>
        <p:nvSpPr>
          <p:cNvPr id="7" name="Text 4"/>
          <p:cNvSpPr/>
          <p:nvPr/>
        </p:nvSpPr>
        <p:spPr>
          <a:xfrm>
            <a:off x="640080" y="3383280"/>
            <a:ext cx="3200400" cy="365760"/>
          </a:xfrm>
          <a:prstGeom prst="rect">
            <a:avLst/>
          </a:prstGeom>
          <a:noFill/>
          <a:ln/>
        </p:spPr>
        <p:txBody>
          <a:bodyPr wrap="square" rtlCol="0" anchor="ctr"/>
          <a:lstStyle/>
          <a:p>
            <a:pPr marL="0" indent="0">
              <a:buNone/>
            </a:pPr>
            <a:r>
              <a:rPr lang="en-US" sz="1300" dirty="0">
                <a:solidFill>
                  <a:srgbClr val="E3F5F2"/>
                </a:solidFill>
                <a:latin typeface="Calibri" pitchFamily="34" charset="0"/>
                <a:ea typeface="Calibri" pitchFamily="34" charset="-122"/>
                <a:cs typeface="Calibri" pitchFamily="34" charset="-120"/>
              </a:rPr>
              <a:t>A major social platform, 2020</a:t>
            </a:r>
            <a:endParaRPr lang="en-US" sz="1300" dirty="0"/>
          </a:p>
        </p:txBody>
      </p:sp>
      <p:sp>
        <p:nvSpPr>
          <p:cNvPr id="8" name="Text 5"/>
          <p:cNvSpPr/>
          <p:nvPr/>
        </p:nvSpPr>
        <p:spPr>
          <a:xfrm>
            <a:off x="640080" y="5120640"/>
            <a:ext cx="3200400" cy="82296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130+</a:t>
            </a:r>
            <a:endParaRPr lang="en-US" sz="4000" dirty="0"/>
          </a:p>
        </p:txBody>
      </p:sp>
      <p:sp>
        <p:nvSpPr>
          <p:cNvPr id="9" name="Text 6"/>
          <p:cNvSpPr/>
          <p:nvPr/>
        </p:nvSpPr>
        <p:spPr>
          <a:xfrm>
            <a:off x="640080" y="5897880"/>
            <a:ext cx="3200400" cy="548640"/>
          </a:xfrm>
          <a:prstGeom prst="rect">
            <a:avLst/>
          </a:prstGeom>
          <a:noFill/>
          <a:ln/>
        </p:spPr>
        <p:txBody>
          <a:bodyPr wrap="square" rtlCol="0" anchor="ctr"/>
          <a:lstStyle/>
          <a:p>
            <a:pPr marL="0" indent="0">
              <a:buNone/>
            </a:pPr>
            <a:r>
              <a:rPr lang="en-US" sz="1150" dirty="0">
                <a:solidFill>
                  <a:srgbClr val="E3F5F2"/>
                </a:solidFill>
                <a:latin typeface="Calibri" pitchFamily="34" charset="0"/>
                <a:ea typeface="Calibri" pitchFamily="34" charset="-122"/>
                <a:cs typeface="Calibri" pitchFamily="34" charset="-120"/>
              </a:rPr>
              <a:t>high-profile accounts hijacked in a single afternoon</a:t>
            </a:r>
            <a:endParaRPr lang="en-US" sz="1150" dirty="0"/>
          </a:p>
        </p:txBody>
      </p:sp>
      <p:sp>
        <p:nvSpPr>
          <p:cNvPr id="10" name="Text 7"/>
          <p:cNvSpPr/>
          <p:nvPr/>
        </p:nvSpPr>
        <p:spPr>
          <a:xfrm>
            <a:off x="4663440" y="685800"/>
            <a:ext cx="6675120" cy="457200"/>
          </a:xfrm>
          <a:prstGeom prst="rect">
            <a:avLst/>
          </a:prstGeom>
          <a:noFill/>
          <a:ln/>
        </p:spPr>
        <p:txBody>
          <a:bodyPr wrap="square" rtlCol="0" anchor="ctr"/>
          <a:lstStyle/>
          <a:p>
            <a:pPr marL="0" indent="0">
              <a:buNone/>
            </a:pPr>
            <a:r>
              <a:rPr lang="en-US" sz="2000" b="1" dirty="0">
                <a:solidFill>
                  <a:srgbClr val="0B1F2A"/>
                </a:solidFill>
                <a:latin typeface="Cambria" pitchFamily="34" charset="0"/>
                <a:ea typeface="Cambria" pitchFamily="34" charset="-122"/>
                <a:cs typeface="Cambria" pitchFamily="34" charset="-120"/>
              </a:rPr>
              <a:t>What happened</a:t>
            </a:r>
            <a:endParaRPr lang="en-US" sz="2000" dirty="0"/>
          </a:p>
        </p:txBody>
      </p:sp>
      <p:sp>
        <p:nvSpPr>
          <p:cNvPr id="11" name="Text 8"/>
          <p:cNvSpPr/>
          <p:nvPr/>
        </p:nvSpPr>
        <p:spPr>
          <a:xfrm>
            <a:off x="4663440" y="1234440"/>
            <a:ext cx="6675120" cy="1737360"/>
          </a:xfrm>
          <a:prstGeom prst="rect">
            <a:avLst/>
          </a:prstGeom>
          <a:noFill/>
          <a:ln/>
        </p:spPr>
        <p:txBody>
          <a:bodyPr wrap="square" rtlCol="0" anchor="ctr"/>
          <a:lstStyle/>
          <a:p>
            <a:pPr marL="0" indent="0">
              <a:lnSpc>
                <a:spcPct val="135000"/>
              </a:lnSpc>
              <a:spcAft>
                <a:spcPts val="1200"/>
              </a:spcAft>
              <a:buNone/>
            </a:pPr>
            <a:r>
              <a:rPr lang="en-US" sz="1300" dirty="0">
                <a:solidFill>
                  <a:srgbClr val="35474B"/>
                </a:solidFill>
                <a:latin typeface="Calibri" pitchFamily="34" charset="0"/>
                <a:ea typeface="Calibri" pitchFamily="34" charset="-122"/>
                <a:cs typeface="Calibri" pitchFamily="34" charset="-120"/>
              </a:rPr>
              <a:t>Attackers called employees by phone posing as internal IT staff, convincingly referencing real internal tools and terminology to build trust before asking for login credentials.</a:t>
            </a:r>
            <a:endParaRPr lang="en-US" sz="1300" dirty="0"/>
          </a:p>
          <a:p>
            <a:pPr marL="0" indent="0">
              <a:lnSpc>
                <a:spcPct val="135000"/>
              </a:lnSpc>
              <a:buNone/>
            </a:pPr>
            <a:r>
              <a:rPr lang="en-US" sz="1300" dirty="0">
                <a:solidFill>
                  <a:srgbClr val="35474B"/>
                </a:solidFill>
                <a:latin typeface="Calibri" pitchFamily="34" charset="0"/>
                <a:ea typeface="Calibri" pitchFamily="34" charset="-122"/>
                <a:cs typeface="Calibri" pitchFamily="34" charset="-120"/>
              </a:rPr>
              <a:t>With those credentials, they reached an internal support tool and took control of a large number of high-profile accounts, using them to promote a cryptocurrency scam.</a:t>
            </a:r>
            <a:endParaRPr lang="en-US" sz="1300" dirty="0"/>
          </a:p>
        </p:txBody>
      </p:sp>
      <p:sp>
        <p:nvSpPr>
          <p:cNvPr id="12" name="Text 9"/>
          <p:cNvSpPr/>
          <p:nvPr/>
        </p:nvSpPr>
        <p:spPr>
          <a:xfrm>
            <a:off x="4663440" y="3154680"/>
            <a:ext cx="6675120" cy="411480"/>
          </a:xfrm>
          <a:prstGeom prst="rect">
            <a:avLst/>
          </a:prstGeom>
          <a:noFill/>
          <a:ln/>
        </p:spPr>
        <p:txBody>
          <a:bodyPr wrap="square" rtlCol="0" anchor="ctr"/>
          <a:lstStyle/>
          <a:p>
            <a:pPr marL="0" indent="0">
              <a:buNone/>
            </a:pPr>
            <a:r>
              <a:rPr lang="en-US" sz="1800" b="1" dirty="0">
                <a:solidFill>
                  <a:srgbClr val="0B1F2A"/>
                </a:solidFill>
                <a:latin typeface="Cambria" pitchFamily="34" charset="0"/>
                <a:ea typeface="Cambria" pitchFamily="34" charset="-122"/>
                <a:cs typeface="Cambria" pitchFamily="34" charset="-120"/>
              </a:rPr>
              <a:t>Why it worked</a:t>
            </a:r>
            <a:endParaRPr lang="en-US" sz="1800" dirty="0"/>
          </a:p>
        </p:txBody>
      </p:sp>
      <p:sp>
        <p:nvSpPr>
          <p:cNvPr id="13" name="Text 10"/>
          <p:cNvSpPr/>
          <p:nvPr/>
        </p:nvSpPr>
        <p:spPr>
          <a:xfrm>
            <a:off x="4663440" y="3611880"/>
            <a:ext cx="6675120" cy="1463040"/>
          </a:xfrm>
          <a:prstGeom prst="rect">
            <a:avLst/>
          </a:prstGeom>
          <a:noFill/>
          <a:ln/>
        </p:spPr>
        <p:txBody>
          <a:bodyPr wrap="square" rtlCol="0" anchor="ctr"/>
          <a:lstStyle/>
          <a:p>
            <a:pPr marL="342900" indent="-342900">
              <a:spcAft>
                <a:spcPts val="800"/>
              </a:spcAft>
              <a:buSzPct val="100000"/>
              <a:buChar char="•"/>
            </a:pPr>
            <a:r>
              <a:rPr lang="en-US" sz="1250" dirty="0">
                <a:solidFill>
                  <a:srgbClr val="35474B"/>
                </a:solidFill>
                <a:latin typeface="Calibri" pitchFamily="34" charset="0"/>
                <a:ea typeface="Calibri" pitchFamily="34" charset="-122"/>
                <a:cs typeface="Calibri" pitchFamily="34" charset="-120"/>
              </a:rPr>
              <a:t>Phone-based pretexting feels more personal and harder to doubt than email</a:t>
            </a:r>
            <a:endParaRPr lang="en-US" sz="1250" dirty="0"/>
          </a:p>
          <a:p>
            <a:pPr marL="342900" indent="-342900">
              <a:spcAft>
                <a:spcPts val="800"/>
              </a:spcAft>
              <a:buSzPct val="100000"/>
              <a:buChar char="•"/>
            </a:pPr>
            <a:r>
              <a:rPr lang="en-US" sz="1250" dirty="0">
                <a:solidFill>
                  <a:srgbClr val="35474B"/>
                </a:solidFill>
                <a:latin typeface="Calibri" pitchFamily="34" charset="0"/>
                <a:ea typeface="Calibri" pitchFamily="34" charset="-122"/>
                <a:cs typeface="Calibri" pitchFamily="34" charset="-120"/>
              </a:rPr>
              <a:t>Attackers had done homework on internal terms, building instant credibility</a:t>
            </a:r>
            <a:endParaRPr lang="en-US" sz="1250" dirty="0"/>
          </a:p>
          <a:p>
            <a:pPr marL="342900" indent="-342900">
              <a:spcAft>
                <a:spcPts val="800"/>
              </a:spcAft>
              <a:buSzPct val="100000"/>
              <a:buChar char="•"/>
            </a:pPr>
            <a:r>
              <a:rPr lang="en-US" sz="1250" dirty="0">
                <a:solidFill>
                  <a:srgbClr val="35474B"/>
                </a:solidFill>
                <a:latin typeface="Calibri" pitchFamily="34" charset="0"/>
                <a:ea typeface="Calibri" pitchFamily="34" charset="-122"/>
                <a:cs typeface="Calibri" pitchFamily="34" charset="-120"/>
              </a:rPr>
              <a:t>One set of stolen credentials unlocked a powerful internal admin tool</a:t>
            </a:r>
            <a:endParaRPr lang="en-US" sz="1250" dirty="0"/>
          </a:p>
        </p:txBody>
      </p:sp>
      <p:sp>
        <p:nvSpPr>
          <p:cNvPr id="14" name="Shape 11"/>
          <p:cNvSpPr/>
          <p:nvPr/>
        </p:nvSpPr>
        <p:spPr>
          <a:xfrm>
            <a:off x="4663440" y="5212080"/>
            <a:ext cx="6675120" cy="914400"/>
          </a:xfrm>
          <a:prstGeom prst="roundRect">
            <a:avLst>
              <a:gd name="adj" fmla="val 8000"/>
            </a:avLst>
          </a:prstGeom>
          <a:solidFill>
            <a:srgbClr val="E9F1F1"/>
          </a:solidFill>
          <a:ln/>
        </p:spPr>
      </p:sp>
      <p:sp>
        <p:nvSpPr>
          <p:cNvPr id="15" name="Shape 12"/>
          <p:cNvSpPr/>
          <p:nvPr/>
        </p:nvSpPr>
        <p:spPr>
          <a:xfrm>
            <a:off x="4892040" y="5394960"/>
            <a:ext cx="457200" cy="457200"/>
          </a:xfrm>
          <a:prstGeom prst="ellipse">
            <a:avLst/>
          </a:prstGeom>
          <a:solidFill>
            <a:srgbClr val="028090"/>
          </a:solidFill>
          <a:ln/>
        </p:spPr>
      </p:sp>
      <p:pic>
        <p:nvPicPr>
          <p:cNvPr id="16" name="Image 1" descr="/home/claude/phishing/icon_lock_white.png"/>
          <p:cNvPicPr>
            <a:picLocks noChangeAspect="1"/>
          </p:cNvPicPr>
          <p:nvPr/>
        </p:nvPicPr>
        <p:blipFill>
          <a:blip r:embed="rId4"/>
          <a:stretch>
            <a:fillRect/>
          </a:stretch>
        </p:blipFill>
        <p:spPr>
          <a:xfrm>
            <a:off x="5010912" y="5513832"/>
            <a:ext cx="219456" cy="219456"/>
          </a:xfrm>
          <a:prstGeom prst="rect">
            <a:avLst/>
          </a:prstGeom>
        </p:spPr>
      </p:pic>
      <p:sp>
        <p:nvSpPr>
          <p:cNvPr id="17" name="Text 13"/>
          <p:cNvSpPr/>
          <p:nvPr/>
        </p:nvSpPr>
        <p:spPr>
          <a:xfrm>
            <a:off x="5577840" y="5285232"/>
            <a:ext cx="5577840" cy="777240"/>
          </a:xfrm>
          <a:prstGeom prst="rect">
            <a:avLst/>
          </a:prstGeom>
          <a:noFill/>
          <a:ln/>
        </p:spPr>
        <p:txBody>
          <a:bodyPr wrap="square" rtlCol="0" anchor="ctr"/>
          <a:lstStyle/>
          <a:p>
            <a:pPr marL="0" indent="0">
              <a:lnSpc>
                <a:spcPct val="125000"/>
              </a:lnSpc>
              <a:buNone/>
            </a:pPr>
            <a:r>
              <a:rPr lang="en-US" sz="1100" i="1" dirty="0">
                <a:solidFill>
                  <a:srgbClr val="0B1F2A"/>
                </a:solidFill>
                <a:latin typeface="Calibri" pitchFamily="34" charset="0"/>
                <a:ea typeface="Calibri" pitchFamily="34" charset="-122"/>
                <a:cs typeface="Calibri" pitchFamily="34" charset="-120"/>
              </a:rPr>
              <a:t>Lesson: a phone call claiming to be IT is not proof of identity. Hang up and call your helpdesk back on a known, published number.</a:t>
            </a:r>
            <a:endParaRPr lang="en-US" sz="1100" dirty="0"/>
          </a:p>
        </p:txBody>
      </p:sp>
      <p:sp>
        <p:nvSpPr>
          <p:cNvPr id="18" name="Text 14"/>
          <p:cNvSpPr/>
          <p:nvPr/>
        </p:nvSpPr>
        <p:spPr>
          <a:xfrm>
            <a:off x="4663440" y="6199632"/>
            <a:ext cx="6675120" cy="292608"/>
          </a:xfrm>
          <a:prstGeom prst="rect">
            <a:avLst/>
          </a:prstGeom>
          <a:noFill/>
          <a:ln/>
        </p:spPr>
        <p:txBody>
          <a:bodyPr wrap="square" rtlCol="0" anchor="ctr"/>
          <a:lstStyle/>
          <a:p>
            <a:pPr marL="0" indent="0">
              <a:buNone/>
            </a:pPr>
            <a:r>
              <a:rPr lang="en-US" sz="850" b="1" dirty="0">
                <a:solidFill>
                  <a:srgbClr val="8AA0A6"/>
                </a:solidFill>
                <a:latin typeface="Calibri" pitchFamily="34" charset="0"/>
                <a:ea typeface="Calibri" pitchFamily="34" charset="-122"/>
                <a:cs typeface="Calibri" pitchFamily="34" charset="-120"/>
              </a:rPr>
              <a:t>Source: </a:t>
            </a:r>
            <a:r>
              <a:rPr lang="en-US" sz="850" dirty="0">
                <a:solidFill>
                  <a:srgbClr val="8AA0A6"/>
                </a:solidFill>
                <a:latin typeface="Calibri" pitchFamily="34" charset="0"/>
                <a:ea typeface="Calibri" pitchFamily="34" charset="-122"/>
                <a:cs typeface="Calibri" pitchFamily="34" charset="-120"/>
              </a:rPr>
              <a:t>Twitter's July 2020 security incident update (blog.x.com); covered by BBC and TechCrunch.</a:t>
            </a:r>
            <a:endParaRPr lang="en-US" sz="850" dirty="0"/>
          </a:p>
        </p:txBody>
      </p:sp>
      <p:sp>
        <p:nvSpPr>
          <p:cNvPr id="19" name="Text 15"/>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20" name="Text 16"/>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BUILD THE HABIT</a:t>
            </a:r>
            <a:endParaRPr lang="en-US" sz="1300" dirty="0"/>
          </a:p>
        </p:txBody>
      </p:sp>
      <p:sp>
        <p:nvSpPr>
          <p:cNvPr id="3" name="Text 1"/>
          <p:cNvSpPr/>
          <p:nvPr/>
        </p:nvSpPr>
        <p:spPr>
          <a:xfrm>
            <a:off x="594360" y="822960"/>
            <a:ext cx="8229600" cy="731520"/>
          </a:xfrm>
          <a:prstGeom prst="rect">
            <a:avLst/>
          </a:prstGeom>
          <a:noFill/>
          <a:ln/>
        </p:spPr>
        <p:txBody>
          <a:bodyPr wrap="square" rtlCol="0" anchor="ctr"/>
          <a:lstStyle/>
          <a:p>
            <a:pPr marL="0" indent="0">
              <a:buNone/>
            </a:pPr>
            <a:r>
              <a:rPr lang="en-US" sz="3000" b="1" dirty="0">
                <a:solidFill>
                  <a:srgbClr val="0B1F2A"/>
                </a:solidFill>
                <a:latin typeface="Cambria" pitchFamily="34" charset="0"/>
                <a:ea typeface="Cambria" pitchFamily="34" charset="-122"/>
                <a:cs typeface="Cambria" pitchFamily="34" charset="-120"/>
              </a:rPr>
              <a:t>Best Practices to Stay Safe</a:t>
            </a:r>
            <a:endParaRPr lang="en-US" sz="3000" dirty="0"/>
          </a:p>
        </p:txBody>
      </p:sp>
      <p:sp>
        <p:nvSpPr>
          <p:cNvPr id="4" name="Shape 2"/>
          <p:cNvSpPr/>
          <p:nvPr/>
        </p:nvSpPr>
        <p:spPr>
          <a:xfrm>
            <a:off x="640080" y="1783080"/>
            <a:ext cx="5394960" cy="4297680"/>
          </a:xfrm>
          <a:prstGeom prst="roundRect">
            <a:avLst>
              <a:gd name="adj" fmla="val 2128"/>
            </a:avLst>
          </a:prstGeom>
          <a:solidFill>
            <a:srgbClr val="EAF7F2"/>
          </a:solidFill>
          <a:ln/>
        </p:spPr>
      </p:sp>
      <p:sp>
        <p:nvSpPr>
          <p:cNvPr id="5" name="Shape 3"/>
          <p:cNvSpPr/>
          <p:nvPr/>
        </p:nvSpPr>
        <p:spPr>
          <a:xfrm>
            <a:off x="914400" y="2057400"/>
            <a:ext cx="502920" cy="502920"/>
          </a:xfrm>
          <a:prstGeom prst="ellipse">
            <a:avLst/>
          </a:prstGeom>
          <a:solidFill>
            <a:srgbClr val="02C39A"/>
          </a:solidFill>
          <a:ln/>
        </p:spPr>
      </p:sp>
      <p:pic>
        <p:nvPicPr>
          <p:cNvPr id="6" name="Image 0" descr="/home/claude/phishing/icon_check_navy.png"/>
          <p:cNvPicPr>
            <a:picLocks noChangeAspect="1"/>
          </p:cNvPicPr>
          <p:nvPr/>
        </p:nvPicPr>
        <p:blipFill>
          <a:blip r:embed="rId3"/>
          <a:stretch>
            <a:fillRect/>
          </a:stretch>
        </p:blipFill>
        <p:spPr>
          <a:xfrm>
            <a:off x="1024128" y="2167128"/>
            <a:ext cx="283464" cy="283464"/>
          </a:xfrm>
          <a:prstGeom prst="rect">
            <a:avLst/>
          </a:prstGeom>
        </p:spPr>
      </p:pic>
      <p:sp>
        <p:nvSpPr>
          <p:cNvPr id="7" name="Text 4"/>
          <p:cNvSpPr/>
          <p:nvPr/>
        </p:nvSpPr>
        <p:spPr>
          <a:xfrm>
            <a:off x="1508760" y="2084832"/>
            <a:ext cx="2743200" cy="457200"/>
          </a:xfrm>
          <a:prstGeom prst="rect">
            <a:avLst/>
          </a:prstGeom>
          <a:noFill/>
          <a:ln/>
        </p:spPr>
        <p:txBody>
          <a:bodyPr wrap="square" rtlCol="0" anchor="ctr"/>
          <a:lstStyle/>
          <a:p>
            <a:pPr marL="0" indent="0">
              <a:buNone/>
            </a:pPr>
            <a:r>
              <a:rPr lang="en-US" sz="2000" b="1" dirty="0">
                <a:solidFill>
                  <a:srgbClr val="0B1F2A"/>
                </a:solidFill>
                <a:latin typeface="Cambria" pitchFamily="34" charset="0"/>
                <a:ea typeface="Cambria" pitchFamily="34" charset="-122"/>
                <a:cs typeface="Cambria" pitchFamily="34" charset="-120"/>
              </a:rPr>
              <a:t>Do</a:t>
            </a:r>
            <a:endParaRPr lang="en-US" sz="2000" dirty="0"/>
          </a:p>
        </p:txBody>
      </p:sp>
      <p:sp>
        <p:nvSpPr>
          <p:cNvPr id="8" name="Text 5"/>
          <p:cNvSpPr/>
          <p:nvPr/>
        </p:nvSpPr>
        <p:spPr>
          <a:xfrm>
            <a:off x="960120" y="2743200"/>
            <a:ext cx="4754880" cy="3200400"/>
          </a:xfrm>
          <a:prstGeom prst="rect">
            <a:avLst/>
          </a:prstGeom>
          <a:noFill/>
          <a:ln/>
        </p:spPr>
        <p:txBody>
          <a:bodyPr wrap="square" rtlCol="0" anchor="ctr"/>
          <a:lstStyle/>
          <a:p>
            <a:pPr marL="342900" indent="-342900">
              <a:lnSpc>
                <a:spcPct val="120000"/>
              </a:lnSpc>
              <a:spcAft>
                <a:spcPts val="1200"/>
              </a:spcAft>
              <a:buSzPct val="100000"/>
              <a:buChar char="•"/>
            </a:pPr>
            <a:r>
              <a:rPr lang="en-US" sz="1250" dirty="0">
                <a:solidFill>
                  <a:srgbClr val="1F4A3D"/>
                </a:solidFill>
                <a:latin typeface="Calibri" pitchFamily="34" charset="0"/>
                <a:ea typeface="Calibri" pitchFamily="34" charset="-122"/>
                <a:cs typeface="Calibri" pitchFamily="34" charset="-120"/>
              </a:rPr>
              <a:t>Hover over links to check the real destination before clicking</a:t>
            </a:r>
            <a:endParaRPr lang="en-US" sz="1250" dirty="0"/>
          </a:p>
          <a:p>
            <a:pPr marL="342900" indent="-342900">
              <a:lnSpc>
                <a:spcPct val="120000"/>
              </a:lnSpc>
              <a:spcAft>
                <a:spcPts val="1200"/>
              </a:spcAft>
              <a:buSzPct val="100000"/>
              <a:buChar char="•"/>
            </a:pPr>
            <a:r>
              <a:rPr lang="en-US" sz="1250" dirty="0">
                <a:solidFill>
                  <a:srgbClr val="1F4A3D"/>
                </a:solidFill>
                <a:latin typeface="Calibri" pitchFamily="34" charset="0"/>
                <a:ea typeface="Calibri" pitchFamily="34" charset="-122"/>
                <a:cs typeface="Calibri" pitchFamily="34" charset="-120"/>
              </a:rPr>
              <a:t>Verify unexpected requests through a separate, known channel (phone, in person)</a:t>
            </a:r>
            <a:endParaRPr lang="en-US" sz="1250" dirty="0"/>
          </a:p>
          <a:p>
            <a:pPr marL="342900" indent="-342900">
              <a:lnSpc>
                <a:spcPct val="120000"/>
              </a:lnSpc>
              <a:spcAft>
                <a:spcPts val="1200"/>
              </a:spcAft>
              <a:buSzPct val="100000"/>
              <a:buChar char="•"/>
            </a:pPr>
            <a:r>
              <a:rPr lang="en-US" sz="1250" dirty="0">
                <a:solidFill>
                  <a:srgbClr val="1F4A3D"/>
                </a:solidFill>
                <a:latin typeface="Calibri" pitchFamily="34" charset="0"/>
                <a:ea typeface="Calibri" pitchFamily="34" charset="-122"/>
                <a:cs typeface="Calibri" pitchFamily="34" charset="-120"/>
              </a:rPr>
              <a:t>Check the sender's full email address, not just the display name</a:t>
            </a:r>
            <a:endParaRPr lang="en-US" sz="1250" dirty="0"/>
          </a:p>
          <a:p>
            <a:pPr marL="342900" indent="-342900">
              <a:lnSpc>
                <a:spcPct val="120000"/>
              </a:lnSpc>
              <a:spcAft>
                <a:spcPts val="1200"/>
              </a:spcAft>
              <a:buSzPct val="100000"/>
              <a:buChar char="•"/>
            </a:pPr>
            <a:r>
              <a:rPr lang="en-US" sz="1250" dirty="0">
                <a:solidFill>
                  <a:srgbClr val="1F4A3D"/>
                </a:solidFill>
                <a:latin typeface="Calibri" pitchFamily="34" charset="0"/>
                <a:ea typeface="Calibri" pitchFamily="34" charset="-122"/>
                <a:cs typeface="Calibri" pitchFamily="34" charset="-120"/>
              </a:rPr>
              <a:t>Report suspicious emails using your organization's “phishing” button</a:t>
            </a:r>
            <a:endParaRPr lang="en-US" sz="1250" dirty="0"/>
          </a:p>
          <a:p>
            <a:pPr marL="342900" indent="-342900">
              <a:lnSpc>
                <a:spcPct val="120000"/>
              </a:lnSpc>
              <a:spcAft>
                <a:spcPts val="1200"/>
              </a:spcAft>
              <a:buSzPct val="100000"/>
              <a:buChar char="•"/>
            </a:pPr>
            <a:r>
              <a:rPr lang="en-US" sz="1250" dirty="0">
                <a:solidFill>
                  <a:srgbClr val="1F4A3D"/>
                </a:solidFill>
                <a:latin typeface="Calibri" pitchFamily="34" charset="0"/>
                <a:ea typeface="Calibri" pitchFamily="34" charset="-122"/>
                <a:cs typeface="Calibri" pitchFamily="34" charset="-120"/>
              </a:rPr>
              <a:t>Use multi-factor authentication everywhere it's offered</a:t>
            </a:r>
            <a:endParaRPr lang="en-US" sz="1250" dirty="0"/>
          </a:p>
          <a:p>
            <a:pPr marL="342900" indent="-342900">
              <a:lnSpc>
                <a:spcPct val="120000"/>
              </a:lnSpc>
              <a:spcAft>
                <a:spcPts val="1200"/>
              </a:spcAft>
              <a:buSzPct val="100000"/>
              <a:buChar char="•"/>
            </a:pPr>
            <a:r>
              <a:rPr lang="en-US" sz="1250" dirty="0">
                <a:solidFill>
                  <a:srgbClr val="1F4A3D"/>
                </a:solidFill>
                <a:latin typeface="Calibri" pitchFamily="34" charset="0"/>
                <a:ea typeface="Calibri" pitchFamily="34" charset="-122"/>
                <a:cs typeface="Calibri" pitchFamily="34" charset="-120"/>
              </a:rPr>
              <a:t>Slow down when a message pushes urgency or fear</a:t>
            </a:r>
            <a:endParaRPr lang="en-US" sz="1250" dirty="0"/>
          </a:p>
        </p:txBody>
      </p:sp>
      <p:sp>
        <p:nvSpPr>
          <p:cNvPr id="9" name="Shape 6"/>
          <p:cNvSpPr/>
          <p:nvPr/>
        </p:nvSpPr>
        <p:spPr>
          <a:xfrm>
            <a:off x="6263640" y="1783080"/>
            <a:ext cx="5257800" cy="4297680"/>
          </a:xfrm>
          <a:prstGeom prst="roundRect">
            <a:avLst>
              <a:gd name="adj" fmla="val 2128"/>
            </a:avLst>
          </a:prstGeom>
          <a:solidFill>
            <a:srgbClr val="FBEDEC"/>
          </a:solidFill>
          <a:ln/>
        </p:spPr>
      </p:sp>
      <p:sp>
        <p:nvSpPr>
          <p:cNvPr id="10" name="Shape 7"/>
          <p:cNvSpPr/>
          <p:nvPr/>
        </p:nvSpPr>
        <p:spPr>
          <a:xfrm>
            <a:off x="6537960" y="2057400"/>
            <a:ext cx="502920" cy="502920"/>
          </a:xfrm>
          <a:prstGeom prst="ellipse">
            <a:avLst/>
          </a:prstGeom>
          <a:solidFill>
            <a:srgbClr val="C8443C"/>
          </a:solidFill>
          <a:ln/>
        </p:spPr>
      </p:sp>
      <p:pic>
        <p:nvPicPr>
          <p:cNvPr id="11" name="Image 1" descr="/home/claude/phishing/icon_x_white.png"/>
          <p:cNvPicPr>
            <a:picLocks noChangeAspect="1"/>
          </p:cNvPicPr>
          <p:nvPr/>
        </p:nvPicPr>
        <p:blipFill>
          <a:blip r:embed="rId4"/>
          <a:stretch>
            <a:fillRect/>
          </a:stretch>
        </p:blipFill>
        <p:spPr>
          <a:xfrm>
            <a:off x="6647688" y="2167128"/>
            <a:ext cx="283464" cy="283464"/>
          </a:xfrm>
          <a:prstGeom prst="rect">
            <a:avLst/>
          </a:prstGeom>
        </p:spPr>
      </p:pic>
      <p:sp>
        <p:nvSpPr>
          <p:cNvPr id="12" name="Text 8"/>
          <p:cNvSpPr/>
          <p:nvPr/>
        </p:nvSpPr>
        <p:spPr>
          <a:xfrm>
            <a:off x="7132320" y="2084832"/>
            <a:ext cx="2743200" cy="457200"/>
          </a:xfrm>
          <a:prstGeom prst="rect">
            <a:avLst/>
          </a:prstGeom>
          <a:noFill/>
          <a:ln/>
        </p:spPr>
        <p:txBody>
          <a:bodyPr wrap="square" rtlCol="0" anchor="ctr"/>
          <a:lstStyle/>
          <a:p>
            <a:pPr marL="0" indent="0">
              <a:buNone/>
            </a:pPr>
            <a:r>
              <a:rPr lang="en-US" sz="2000" b="1" dirty="0">
                <a:solidFill>
                  <a:srgbClr val="0B1F2A"/>
                </a:solidFill>
                <a:latin typeface="Cambria" pitchFamily="34" charset="0"/>
                <a:ea typeface="Cambria" pitchFamily="34" charset="-122"/>
                <a:cs typeface="Cambria" pitchFamily="34" charset="-120"/>
              </a:rPr>
              <a:t>Don't</a:t>
            </a:r>
            <a:endParaRPr lang="en-US" sz="2000" dirty="0"/>
          </a:p>
        </p:txBody>
      </p:sp>
      <p:sp>
        <p:nvSpPr>
          <p:cNvPr id="13" name="Text 9"/>
          <p:cNvSpPr/>
          <p:nvPr/>
        </p:nvSpPr>
        <p:spPr>
          <a:xfrm>
            <a:off x="6583680" y="2743200"/>
            <a:ext cx="4754880" cy="3200400"/>
          </a:xfrm>
          <a:prstGeom prst="rect">
            <a:avLst/>
          </a:prstGeom>
          <a:noFill/>
          <a:ln/>
        </p:spPr>
        <p:txBody>
          <a:bodyPr wrap="square" rtlCol="0" anchor="ctr"/>
          <a:lstStyle/>
          <a:p>
            <a:pPr marL="342900" indent="-342900">
              <a:lnSpc>
                <a:spcPct val="120000"/>
              </a:lnSpc>
              <a:spcAft>
                <a:spcPts val="1200"/>
              </a:spcAft>
              <a:buSzPct val="100000"/>
              <a:buChar char="•"/>
            </a:pPr>
            <a:r>
              <a:rPr lang="en-US" sz="1250" dirty="0">
                <a:solidFill>
                  <a:srgbClr val="6E2621"/>
                </a:solidFill>
                <a:latin typeface="Calibri" pitchFamily="34" charset="0"/>
                <a:ea typeface="Calibri" pitchFamily="34" charset="-122"/>
                <a:cs typeface="Calibri" pitchFamily="34" charset="-120"/>
              </a:rPr>
              <a:t>Don't enter credentials after clicking a link from an email or text</a:t>
            </a:r>
            <a:endParaRPr lang="en-US" sz="1250" dirty="0"/>
          </a:p>
          <a:p>
            <a:pPr marL="342900" indent="-342900">
              <a:lnSpc>
                <a:spcPct val="120000"/>
              </a:lnSpc>
              <a:spcAft>
                <a:spcPts val="1200"/>
              </a:spcAft>
              <a:buSzPct val="100000"/>
              <a:buChar char="•"/>
            </a:pPr>
            <a:r>
              <a:rPr lang="en-US" sz="1250" dirty="0">
                <a:solidFill>
                  <a:srgbClr val="6E2621"/>
                </a:solidFill>
                <a:latin typeface="Calibri" pitchFamily="34" charset="0"/>
                <a:ea typeface="Calibri" pitchFamily="34" charset="-122"/>
                <a:cs typeface="Calibri" pitchFamily="34" charset="-120"/>
              </a:rPr>
              <a:t>Don't enable macros or run attachments you weren't expecting</a:t>
            </a:r>
            <a:endParaRPr lang="en-US" sz="1250" dirty="0"/>
          </a:p>
          <a:p>
            <a:pPr marL="342900" indent="-342900">
              <a:lnSpc>
                <a:spcPct val="120000"/>
              </a:lnSpc>
              <a:spcAft>
                <a:spcPts val="1200"/>
              </a:spcAft>
              <a:buSzPct val="100000"/>
              <a:buChar char="•"/>
            </a:pPr>
            <a:r>
              <a:rPr lang="en-US" sz="1250" dirty="0">
                <a:solidFill>
                  <a:srgbClr val="6E2621"/>
                </a:solidFill>
                <a:latin typeface="Calibri" pitchFamily="34" charset="0"/>
                <a:ea typeface="Calibri" pitchFamily="34" charset="-122"/>
                <a:cs typeface="Calibri" pitchFamily="34" charset="-120"/>
              </a:rPr>
              <a:t>Don't trust a request just because it looks like it's from your boss</a:t>
            </a:r>
            <a:endParaRPr lang="en-US" sz="1250" dirty="0"/>
          </a:p>
          <a:p>
            <a:pPr marL="342900" indent="-342900">
              <a:lnSpc>
                <a:spcPct val="120000"/>
              </a:lnSpc>
              <a:spcAft>
                <a:spcPts val="1200"/>
              </a:spcAft>
              <a:buSzPct val="100000"/>
              <a:buChar char="•"/>
            </a:pPr>
            <a:r>
              <a:rPr lang="en-US" sz="1250" dirty="0">
                <a:solidFill>
                  <a:srgbClr val="6E2621"/>
                </a:solidFill>
                <a:latin typeface="Calibri" pitchFamily="34" charset="0"/>
                <a:ea typeface="Calibri" pitchFamily="34" charset="-122"/>
                <a:cs typeface="Calibri" pitchFamily="34" charset="-120"/>
              </a:rPr>
              <a:t>Don't reuse the same password across work and personal accounts</a:t>
            </a:r>
            <a:endParaRPr lang="en-US" sz="1250" dirty="0"/>
          </a:p>
          <a:p>
            <a:pPr marL="342900" indent="-342900">
              <a:lnSpc>
                <a:spcPct val="120000"/>
              </a:lnSpc>
              <a:spcAft>
                <a:spcPts val="1200"/>
              </a:spcAft>
              <a:buSzPct val="100000"/>
              <a:buChar char="•"/>
            </a:pPr>
            <a:r>
              <a:rPr lang="en-US" sz="1250" dirty="0">
                <a:solidFill>
                  <a:srgbClr val="6E2621"/>
                </a:solidFill>
                <a:latin typeface="Calibri" pitchFamily="34" charset="0"/>
                <a:ea typeface="Calibri" pitchFamily="34" charset="-122"/>
                <a:cs typeface="Calibri" pitchFamily="34" charset="-120"/>
              </a:rPr>
              <a:t>Don't assume a padlock icon means a site is legitimate</a:t>
            </a:r>
            <a:endParaRPr lang="en-US" sz="1250" dirty="0"/>
          </a:p>
          <a:p>
            <a:pPr marL="342900" indent="-342900">
              <a:lnSpc>
                <a:spcPct val="120000"/>
              </a:lnSpc>
              <a:spcAft>
                <a:spcPts val="1200"/>
              </a:spcAft>
              <a:buSzPct val="100000"/>
              <a:buChar char="•"/>
            </a:pPr>
            <a:r>
              <a:rPr lang="en-US" sz="1250" dirty="0">
                <a:solidFill>
                  <a:srgbClr val="6E2621"/>
                </a:solidFill>
                <a:latin typeface="Calibri" pitchFamily="34" charset="0"/>
                <a:ea typeface="Calibri" pitchFamily="34" charset="-122"/>
                <a:cs typeface="Calibri" pitchFamily="34" charset="-120"/>
              </a:rPr>
              <a:t>Don't act on a single urgent message without a second opinion</a:t>
            </a:r>
            <a:endParaRPr lang="en-US" sz="1250" dirty="0"/>
          </a:p>
        </p:txBody>
      </p:sp>
      <p:sp>
        <p:nvSpPr>
          <p:cNvPr id="14" name="Text 10"/>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15" name="Text 11"/>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2A"/>
        </a:solidFill>
        <a:effectLst/>
      </p:bgPr>
    </p:bg>
    <p:spTree>
      <p:nvGrpSpPr>
        <p:cNvPr id="1" name=""/>
        <p:cNvGrpSpPr/>
        <p:nvPr/>
      </p:nvGrpSpPr>
      <p:grpSpPr>
        <a:xfrm>
          <a:off x="0" y="0"/>
          <a:ext cx="0" cy="0"/>
          <a:chOff x="0" y="0"/>
          <a:chExt cx="0" cy="0"/>
        </a:xfrm>
      </p:grpSpPr>
      <p:sp>
        <p:nvSpPr>
          <p:cNvPr id="2" name="Shape 0"/>
          <p:cNvSpPr/>
          <p:nvPr/>
        </p:nvSpPr>
        <p:spPr>
          <a:xfrm>
            <a:off x="5166360" y="1554480"/>
            <a:ext cx="1280160" cy="1280160"/>
          </a:xfrm>
          <a:prstGeom prst="ellipse">
            <a:avLst/>
          </a:prstGeom>
          <a:solidFill>
            <a:srgbClr val="028090"/>
          </a:solidFill>
          <a:ln/>
        </p:spPr>
      </p:sp>
      <p:pic>
        <p:nvPicPr>
          <p:cNvPr id="3" name="Image 0" descr="/home/claude/phishing/icon_help_white.png"/>
          <p:cNvPicPr>
            <a:picLocks noChangeAspect="1"/>
          </p:cNvPicPr>
          <p:nvPr/>
        </p:nvPicPr>
        <p:blipFill>
          <a:blip r:embed="rId3"/>
          <a:stretch>
            <a:fillRect/>
          </a:stretch>
        </p:blipFill>
        <p:spPr>
          <a:xfrm>
            <a:off x="5458968" y="1847088"/>
            <a:ext cx="694944" cy="694944"/>
          </a:xfrm>
          <a:prstGeom prst="rect">
            <a:avLst/>
          </a:prstGeom>
        </p:spPr>
      </p:pic>
      <p:sp>
        <p:nvSpPr>
          <p:cNvPr id="4" name="Text 1"/>
          <p:cNvSpPr/>
          <p:nvPr/>
        </p:nvSpPr>
        <p:spPr>
          <a:xfrm>
            <a:off x="0" y="3017520"/>
            <a:ext cx="12161520" cy="365760"/>
          </a:xfrm>
          <a:prstGeom prst="rect">
            <a:avLst/>
          </a:prstGeom>
          <a:noFill/>
          <a:ln/>
        </p:spPr>
        <p:txBody>
          <a:bodyPr wrap="square" rtlCol="0" anchor="ctr"/>
          <a:lstStyle/>
          <a:p>
            <a:pPr marL="0" indent="0" algn="ctr">
              <a:buNone/>
            </a:pPr>
            <a:r>
              <a:rPr lang="en-US" sz="1400" b="1" kern="0" spc="300" dirty="0">
                <a:solidFill>
                  <a:srgbClr val="02C39A"/>
                </a:solidFill>
                <a:latin typeface="Calibri" pitchFamily="34" charset="0"/>
                <a:ea typeface="Calibri" pitchFamily="34" charset="-122"/>
                <a:cs typeface="Calibri" pitchFamily="34" charset="-120"/>
              </a:rPr>
              <a:t>KNOWLEDGE CHECK</a:t>
            </a:r>
            <a:endParaRPr lang="en-US" sz="1400" dirty="0"/>
          </a:p>
        </p:txBody>
      </p:sp>
      <p:sp>
        <p:nvSpPr>
          <p:cNvPr id="5" name="Text 2"/>
          <p:cNvSpPr/>
          <p:nvPr/>
        </p:nvSpPr>
        <p:spPr>
          <a:xfrm>
            <a:off x="0" y="3383280"/>
            <a:ext cx="12161520" cy="82296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Test Yourself</a:t>
            </a:r>
            <a:endParaRPr lang="en-US" sz="3600" dirty="0"/>
          </a:p>
        </p:txBody>
      </p:sp>
      <p:sp>
        <p:nvSpPr>
          <p:cNvPr id="6" name="Text 3"/>
          <p:cNvSpPr/>
          <p:nvPr/>
        </p:nvSpPr>
        <p:spPr>
          <a:xfrm>
            <a:off x="2423160" y="4251960"/>
            <a:ext cx="7315200" cy="548640"/>
          </a:xfrm>
          <a:prstGeom prst="rect">
            <a:avLst/>
          </a:prstGeom>
          <a:noFill/>
          <a:ln/>
        </p:spPr>
        <p:txBody>
          <a:bodyPr wrap="square" rtlCol="0" anchor="ctr"/>
          <a:lstStyle/>
          <a:p>
            <a:pPr marL="0" indent="0" algn="ctr">
              <a:buNone/>
            </a:pPr>
            <a:r>
              <a:rPr lang="en-US" sz="1300" dirty="0">
                <a:solidFill>
                  <a:srgbClr val="AFC6CC"/>
                </a:solidFill>
                <a:latin typeface="Calibri" pitchFamily="34" charset="0"/>
                <a:ea typeface="Calibri" pitchFamily="34" charset="-122"/>
                <a:cs typeface="Calibri" pitchFamily="34" charset="-120"/>
              </a:rPr>
              <a:t>Three quick questions. Read each one, choose your answer, then check the next slide.</a:t>
            </a:r>
            <a:endParaRPr lang="en-US" sz="1300" dirty="0"/>
          </a:p>
        </p:txBody>
      </p:sp>
      <p:sp>
        <p:nvSpPr>
          <p:cNvPr id="7" name="Text 4"/>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8" name="Text 5"/>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AF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QUESTION 1 OF 3</a:t>
            </a:r>
            <a:endParaRPr lang="en-US" sz="1300" dirty="0"/>
          </a:p>
        </p:txBody>
      </p:sp>
      <p:sp>
        <p:nvSpPr>
          <p:cNvPr id="3" name="Text 1"/>
          <p:cNvSpPr/>
          <p:nvPr/>
        </p:nvSpPr>
        <p:spPr>
          <a:xfrm>
            <a:off x="594360" y="868680"/>
            <a:ext cx="10515600" cy="822960"/>
          </a:xfrm>
          <a:prstGeom prst="rect">
            <a:avLst/>
          </a:prstGeom>
          <a:noFill/>
          <a:ln/>
        </p:spPr>
        <p:txBody>
          <a:bodyPr wrap="square" rtlCol="0" anchor="ctr"/>
          <a:lstStyle/>
          <a:p>
            <a:pPr marL="0" indent="0">
              <a:buNone/>
            </a:pPr>
            <a:r>
              <a:rPr lang="en-US" sz="2400" b="1" dirty="0">
                <a:solidFill>
                  <a:srgbClr val="0B1F2A"/>
                </a:solidFill>
                <a:latin typeface="Cambria" pitchFamily="34" charset="0"/>
                <a:ea typeface="Cambria" pitchFamily="34" charset="-122"/>
                <a:cs typeface="Cambria" pitchFamily="34" charset="-120"/>
              </a:rPr>
              <a:t>Which detail is the biggest red flag in this email?</a:t>
            </a:r>
            <a:endParaRPr lang="en-US" sz="2400" dirty="0"/>
          </a:p>
        </p:txBody>
      </p:sp>
      <p:sp>
        <p:nvSpPr>
          <p:cNvPr id="4" name="Shape 2"/>
          <p:cNvSpPr/>
          <p:nvPr/>
        </p:nvSpPr>
        <p:spPr>
          <a:xfrm>
            <a:off x="640080" y="1828800"/>
            <a:ext cx="5943600" cy="3566160"/>
          </a:xfrm>
          <a:prstGeom prst="roundRect">
            <a:avLst>
              <a:gd name="adj" fmla="val 2051"/>
            </a:avLst>
          </a:prstGeom>
          <a:solidFill>
            <a:srgbClr val="FFFFFF"/>
          </a:solidFill>
          <a:ln w="12700">
            <a:solidFill>
              <a:srgbClr val="D7E3E3"/>
            </a:solidFill>
            <a:prstDash val="solid"/>
          </a:ln>
        </p:spPr>
      </p:sp>
      <p:sp>
        <p:nvSpPr>
          <p:cNvPr id="5" name="Text 3"/>
          <p:cNvSpPr/>
          <p:nvPr/>
        </p:nvSpPr>
        <p:spPr>
          <a:xfrm>
            <a:off x="960120" y="2103120"/>
            <a:ext cx="5303520" cy="3017520"/>
          </a:xfrm>
          <a:prstGeom prst="rect">
            <a:avLst/>
          </a:prstGeom>
          <a:noFill/>
          <a:ln/>
        </p:spPr>
        <p:txBody>
          <a:bodyPr wrap="square" rtlCol="0" anchor="ctr"/>
          <a:lstStyle/>
          <a:p>
            <a:pPr marL="0" indent="0">
              <a:lnSpc>
                <a:spcPct val="135000"/>
              </a:lnSpc>
              <a:buNone/>
            </a:pPr>
            <a:r>
              <a:rPr lang="en-US" sz="1300" b="1" dirty="0">
                <a:solidFill>
                  <a:srgbClr val="1B2B2E"/>
                </a:solidFill>
                <a:latin typeface="Calibri" pitchFamily="34" charset="0"/>
                <a:ea typeface="Calibri" pitchFamily="34" charset="-122"/>
                <a:cs typeface="Calibri" pitchFamily="34" charset="-120"/>
              </a:rPr>
              <a:t>From: Payroll &lt;payroll@yourcompany.hr-update.com&gt;
Subject: Update your direct deposit info
</a:t>
            </a:r>
            <a:r>
              <a:rPr lang="en-US" sz="1300" dirty="0">
                <a:solidFill>
                  <a:srgbClr val="1B2B2E"/>
                </a:solidFill>
                <a:latin typeface="Calibri" pitchFamily="34" charset="0"/>
                <a:ea typeface="Calibri" pitchFamily="34" charset="-122"/>
                <a:cs typeface="Calibri" pitchFamily="34" charset="-120"/>
              </a:rPr>
              <a:t>Hi,
Our payroll system was upgraded. Please confirm your bank details within 24 hours using the secure link below or your next paycheck may be delayed.
</a:t>
            </a:r>
            <a:r>
              <a:rPr lang="en-US" sz="1300" b="1" u="sng" dirty="0">
                <a:solidFill>
                  <a:srgbClr val="028090"/>
                </a:solidFill>
                <a:latin typeface="Calibri" pitchFamily="34" charset="0"/>
                <a:ea typeface="Calibri" pitchFamily="34" charset="-122"/>
                <a:cs typeface="Calibri" pitchFamily="34" charset="-120"/>
              </a:rPr>
              <a:t>▸ Update My Banking Info</a:t>
            </a:r>
            <a:endParaRPr lang="en-US" sz="1300" dirty="0"/>
          </a:p>
        </p:txBody>
      </p:sp>
      <p:sp>
        <p:nvSpPr>
          <p:cNvPr id="6" name="Shape 4"/>
          <p:cNvSpPr/>
          <p:nvPr/>
        </p:nvSpPr>
        <p:spPr>
          <a:xfrm>
            <a:off x="6858000" y="2011680"/>
            <a:ext cx="4663440" cy="685800"/>
          </a:xfrm>
          <a:prstGeom prst="roundRect">
            <a:avLst>
              <a:gd name="adj" fmla="val 10667"/>
            </a:avLst>
          </a:prstGeom>
          <a:solidFill>
            <a:srgbClr val="FFFFFF"/>
          </a:solidFill>
          <a:ln w="12700">
            <a:solidFill>
              <a:srgbClr val="D7E3E3"/>
            </a:solidFill>
            <a:prstDash val="solid"/>
          </a:ln>
        </p:spPr>
      </p:sp>
      <p:sp>
        <p:nvSpPr>
          <p:cNvPr id="7" name="Text 5"/>
          <p:cNvSpPr/>
          <p:nvPr/>
        </p:nvSpPr>
        <p:spPr>
          <a:xfrm>
            <a:off x="7086600" y="2011680"/>
            <a:ext cx="4206240" cy="685800"/>
          </a:xfrm>
          <a:prstGeom prst="rect">
            <a:avLst/>
          </a:prstGeom>
          <a:noFill/>
          <a:ln/>
        </p:spPr>
        <p:txBody>
          <a:bodyPr wrap="square" rtlCol="0" anchor="ctr"/>
          <a:lstStyle/>
          <a:p>
            <a:pPr marL="0" indent="0">
              <a:buNone/>
            </a:pPr>
            <a:r>
              <a:rPr lang="en-US" sz="1300" dirty="0">
                <a:solidFill>
                  <a:srgbClr val="1B2B2E"/>
                </a:solidFill>
                <a:latin typeface="Calibri" pitchFamily="34" charset="0"/>
                <a:ea typeface="Calibri" pitchFamily="34" charset="-122"/>
                <a:cs typeface="Calibri" pitchFamily="34" charset="-120"/>
              </a:rPr>
              <a:t>A. The email uses the word “secure”</a:t>
            </a:r>
            <a:endParaRPr lang="en-US" sz="1300" dirty="0"/>
          </a:p>
        </p:txBody>
      </p:sp>
      <p:sp>
        <p:nvSpPr>
          <p:cNvPr id="8" name="Shape 6"/>
          <p:cNvSpPr/>
          <p:nvPr/>
        </p:nvSpPr>
        <p:spPr>
          <a:xfrm>
            <a:off x="6858000" y="2880360"/>
            <a:ext cx="4663440" cy="685800"/>
          </a:xfrm>
          <a:prstGeom prst="roundRect">
            <a:avLst>
              <a:gd name="adj" fmla="val 10667"/>
            </a:avLst>
          </a:prstGeom>
          <a:solidFill>
            <a:srgbClr val="FFFFFF"/>
          </a:solidFill>
          <a:ln w="12700">
            <a:solidFill>
              <a:srgbClr val="D7E3E3"/>
            </a:solidFill>
            <a:prstDash val="solid"/>
          </a:ln>
        </p:spPr>
      </p:sp>
      <p:sp>
        <p:nvSpPr>
          <p:cNvPr id="9" name="Text 7"/>
          <p:cNvSpPr/>
          <p:nvPr/>
        </p:nvSpPr>
        <p:spPr>
          <a:xfrm>
            <a:off x="7086600" y="2880360"/>
            <a:ext cx="4206240" cy="685800"/>
          </a:xfrm>
          <a:prstGeom prst="rect">
            <a:avLst/>
          </a:prstGeom>
          <a:noFill/>
          <a:ln/>
        </p:spPr>
        <p:txBody>
          <a:bodyPr wrap="square" rtlCol="0" anchor="ctr"/>
          <a:lstStyle/>
          <a:p>
            <a:pPr marL="0" indent="0">
              <a:buNone/>
            </a:pPr>
            <a:r>
              <a:rPr lang="en-US" sz="1300" dirty="0">
                <a:solidFill>
                  <a:srgbClr val="1B2B2E"/>
                </a:solidFill>
                <a:latin typeface="Calibri" pitchFamily="34" charset="0"/>
                <a:ea typeface="Calibri" pitchFamily="34" charset="-122"/>
                <a:cs typeface="Calibri" pitchFamily="34" charset="-120"/>
              </a:rPr>
              <a:t>B. The sender domain is not the real company domain</a:t>
            </a:r>
            <a:endParaRPr lang="en-US" sz="1300" dirty="0"/>
          </a:p>
        </p:txBody>
      </p:sp>
      <p:sp>
        <p:nvSpPr>
          <p:cNvPr id="10" name="Shape 8"/>
          <p:cNvSpPr/>
          <p:nvPr/>
        </p:nvSpPr>
        <p:spPr>
          <a:xfrm>
            <a:off x="6858000" y="3749040"/>
            <a:ext cx="4663440" cy="685800"/>
          </a:xfrm>
          <a:prstGeom prst="roundRect">
            <a:avLst>
              <a:gd name="adj" fmla="val 10667"/>
            </a:avLst>
          </a:prstGeom>
          <a:solidFill>
            <a:srgbClr val="FFFFFF"/>
          </a:solidFill>
          <a:ln w="12700">
            <a:solidFill>
              <a:srgbClr val="D7E3E3"/>
            </a:solidFill>
            <a:prstDash val="solid"/>
          </a:ln>
        </p:spPr>
      </p:sp>
      <p:sp>
        <p:nvSpPr>
          <p:cNvPr id="11" name="Text 9"/>
          <p:cNvSpPr/>
          <p:nvPr/>
        </p:nvSpPr>
        <p:spPr>
          <a:xfrm>
            <a:off x="7086600" y="3749040"/>
            <a:ext cx="4206240" cy="685800"/>
          </a:xfrm>
          <a:prstGeom prst="rect">
            <a:avLst/>
          </a:prstGeom>
          <a:noFill/>
          <a:ln/>
        </p:spPr>
        <p:txBody>
          <a:bodyPr wrap="square" rtlCol="0" anchor="ctr"/>
          <a:lstStyle/>
          <a:p>
            <a:pPr marL="0" indent="0">
              <a:buNone/>
            </a:pPr>
            <a:r>
              <a:rPr lang="en-US" sz="1300" dirty="0">
                <a:solidFill>
                  <a:srgbClr val="1B2B2E"/>
                </a:solidFill>
                <a:latin typeface="Calibri" pitchFamily="34" charset="0"/>
                <a:ea typeface="Calibri" pitchFamily="34" charset="-122"/>
                <a:cs typeface="Calibri" pitchFamily="34" charset="-120"/>
              </a:rPr>
              <a:t>C. The email includes a greeting</a:t>
            </a:r>
            <a:endParaRPr lang="en-US" sz="1300" dirty="0"/>
          </a:p>
        </p:txBody>
      </p:sp>
      <p:sp>
        <p:nvSpPr>
          <p:cNvPr id="12" name="Shape 10"/>
          <p:cNvSpPr/>
          <p:nvPr/>
        </p:nvSpPr>
        <p:spPr>
          <a:xfrm>
            <a:off x="6858000" y="4617720"/>
            <a:ext cx="4663440" cy="685800"/>
          </a:xfrm>
          <a:prstGeom prst="roundRect">
            <a:avLst>
              <a:gd name="adj" fmla="val 10667"/>
            </a:avLst>
          </a:prstGeom>
          <a:solidFill>
            <a:srgbClr val="FFFFFF"/>
          </a:solidFill>
          <a:ln w="12700">
            <a:solidFill>
              <a:srgbClr val="D7E3E3"/>
            </a:solidFill>
            <a:prstDash val="solid"/>
          </a:ln>
        </p:spPr>
      </p:sp>
      <p:sp>
        <p:nvSpPr>
          <p:cNvPr id="13" name="Text 11"/>
          <p:cNvSpPr/>
          <p:nvPr/>
        </p:nvSpPr>
        <p:spPr>
          <a:xfrm>
            <a:off x="7086600" y="4617720"/>
            <a:ext cx="4206240" cy="685800"/>
          </a:xfrm>
          <a:prstGeom prst="rect">
            <a:avLst/>
          </a:prstGeom>
          <a:noFill/>
          <a:ln/>
        </p:spPr>
        <p:txBody>
          <a:bodyPr wrap="square" rtlCol="0" anchor="ctr"/>
          <a:lstStyle/>
          <a:p>
            <a:pPr marL="0" indent="0">
              <a:buNone/>
            </a:pPr>
            <a:r>
              <a:rPr lang="en-US" sz="1300" dirty="0">
                <a:solidFill>
                  <a:srgbClr val="1B2B2E"/>
                </a:solidFill>
                <a:latin typeface="Calibri" pitchFamily="34" charset="0"/>
                <a:ea typeface="Calibri" pitchFamily="34" charset="-122"/>
                <a:cs typeface="Calibri" pitchFamily="34" charset="-120"/>
              </a:rPr>
              <a:t>D. The email mentions a paycheck</a:t>
            </a:r>
            <a:endParaRPr lang="en-US" sz="1300" dirty="0"/>
          </a:p>
        </p:txBody>
      </p:sp>
      <p:sp>
        <p:nvSpPr>
          <p:cNvPr id="14" name="Text 12"/>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15" name="Text 13"/>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2A"/>
        </a:solidFill>
        <a:effectLst/>
      </p:bgPr>
    </p:bg>
    <p:spTree>
      <p:nvGrpSpPr>
        <p:cNvPr id="1" name=""/>
        <p:cNvGrpSpPr/>
        <p:nvPr/>
      </p:nvGrpSpPr>
      <p:grpSpPr>
        <a:xfrm>
          <a:off x="0" y="0"/>
          <a:ext cx="0" cy="0"/>
          <a:chOff x="0" y="0"/>
          <a:chExt cx="0" cy="0"/>
        </a:xfrm>
      </p:grpSpPr>
      <p:sp>
        <p:nvSpPr>
          <p:cNvPr id="2" name="Shape 0"/>
          <p:cNvSpPr/>
          <p:nvPr/>
        </p:nvSpPr>
        <p:spPr>
          <a:xfrm>
            <a:off x="640080" y="685800"/>
            <a:ext cx="685800" cy="685800"/>
          </a:xfrm>
          <a:prstGeom prst="ellipse">
            <a:avLst/>
          </a:prstGeom>
          <a:solidFill>
            <a:srgbClr val="02C39A"/>
          </a:solidFill>
          <a:ln/>
        </p:spPr>
      </p:sp>
      <p:pic>
        <p:nvPicPr>
          <p:cNvPr id="3" name="Image 0" descr="/home/claude/phishing/icon_check_navy.png"/>
          <p:cNvPicPr>
            <a:picLocks noChangeAspect="1"/>
          </p:cNvPicPr>
          <p:nvPr/>
        </p:nvPicPr>
        <p:blipFill>
          <a:blip r:embed="rId3"/>
          <a:stretch>
            <a:fillRect/>
          </a:stretch>
        </p:blipFill>
        <p:spPr>
          <a:xfrm>
            <a:off x="777240" y="822960"/>
            <a:ext cx="411480" cy="411480"/>
          </a:xfrm>
          <a:prstGeom prst="rect">
            <a:avLst/>
          </a:prstGeom>
        </p:spPr>
      </p:pic>
      <p:sp>
        <p:nvSpPr>
          <p:cNvPr id="4" name="Text 1"/>
          <p:cNvSpPr/>
          <p:nvPr/>
        </p:nvSpPr>
        <p:spPr>
          <a:xfrm>
            <a:off x="1508760" y="731520"/>
            <a:ext cx="3657600" cy="320040"/>
          </a:xfrm>
          <a:prstGeom prst="rect">
            <a:avLst/>
          </a:prstGeom>
          <a:noFill/>
          <a:ln/>
        </p:spPr>
        <p:txBody>
          <a:bodyPr wrap="square"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ANSWER</a:t>
            </a:r>
            <a:endParaRPr lang="en-US" sz="1300" dirty="0"/>
          </a:p>
        </p:txBody>
      </p:sp>
      <p:sp>
        <p:nvSpPr>
          <p:cNvPr id="5" name="Text 2"/>
          <p:cNvSpPr/>
          <p:nvPr/>
        </p:nvSpPr>
        <p:spPr>
          <a:xfrm>
            <a:off x="1508760" y="1005840"/>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B — the sender domain</a:t>
            </a:r>
            <a:endParaRPr lang="en-US" sz="2400" dirty="0"/>
          </a:p>
        </p:txBody>
      </p:sp>
      <p:sp>
        <p:nvSpPr>
          <p:cNvPr id="6" name="Text 3"/>
          <p:cNvSpPr/>
          <p:nvPr/>
        </p:nvSpPr>
        <p:spPr>
          <a:xfrm>
            <a:off x="640080" y="1920240"/>
            <a:ext cx="7772400" cy="1828800"/>
          </a:xfrm>
          <a:prstGeom prst="rect">
            <a:avLst/>
          </a:prstGeom>
          <a:noFill/>
          <a:ln/>
        </p:spPr>
        <p:txBody>
          <a:bodyPr wrap="square" rtlCol="0" anchor="ctr"/>
          <a:lstStyle/>
          <a:p>
            <a:pPr marL="0" indent="0">
              <a:lnSpc>
                <a:spcPct val="140000"/>
              </a:lnSpc>
              <a:buNone/>
            </a:pPr>
            <a:r>
              <a:rPr lang="en-US" sz="1400" b="1" dirty="0">
                <a:solidFill>
                  <a:srgbClr val="02C39A"/>
                </a:solidFill>
                <a:latin typeface="Calibri" pitchFamily="34" charset="0"/>
                <a:ea typeface="Calibri" pitchFamily="34" charset="-122"/>
                <a:cs typeface="Calibri" pitchFamily="34" charset="-120"/>
              </a:rPr>
              <a:t>“yourcompany.hr-update.com”</a:t>
            </a:r>
            <a:r>
              <a:rPr lang="en-US" sz="1400" dirty="0">
                <a:solidFill>
                  <a:srgbClr val="C7DADD"/>
                </a:solidFill>
                <a:latin typeface="Calibri" pitchFamily="34" charset="0"/>
                <a:ea typeface="Calibri" pitchFamily="34" charset="-122"/>
                <a:cs typeface="Calibri" pitchFamily="34" charset="-120"/>
              </a:rPr>
              <a:t> is not your company's real domain — it's a look-alike subdomain designed to look plausible at a glance. The urgency (“24 hours”), the generic tone, and the direct request for banking details are supporting red flags, but the forged domain is the fundamental giveaway.</a:t>
            </a:r>
            <a:endParaRPr lang="en-US" sz="1400" dirty="0"/>
          </a:p>
        </p:txBody>
      </p:sp>
      <p:sp>
        <p:nvSpPr>
          <p:cNvPr id="7" name="Shape 4"/>
          <p:cNvSpPr/>
          <p:nvPr/>
        </p:nvSpPr>
        <p:spPr>
          <a:xfrm>
            <a:off x="640080" y="4114800"/>
            <a:ext cx="7955280" cy="1188720"/>
          </a:xfrm>
          <a:prstGeom prst="roundRect">
            <a:avLst>
              <a:gd name="adj" fmla="val 7692"/>
            </a:avLst>
          </a:prstGeom>
          <a:solidFill>
            <a:srgbClr val="13303D"/>
          </a:solidFill>
          <a:ln/>
        </p:spPr>
      </p:sp>
      <p:sp>
        <p:nvSpPr>
          <p:cNvPr id="8" name="Text 5"/>
          <p:cNvSpPr/>
          <p:nvPr/>
        </p:nvSpPr>
        <p:spPr>
          <a:xfrm>
            <a:off x="914400" y="4251960"/>
            <a:ext cx="7406640" cy="914400"/>
          </a:xfrm>
          <a:prstGeom prst="rect">
            <a:avLst/>
          </a:prstGeom>
          <a:noFill/>
          <a:ln/>
        </p:spPr>
        <p:txBody>
          <a:bodyPr wrap="square" rtlCol="0" anchor="ctr"/>
          <a:lstStyle/>
          <a:p>
            <a:pPr marL="0" indent="0">
              <a:lnSpc>
                <a:spcPct val="130000"/>
              </a:lnSpc>
              <a:buNone/>
            </a:pPr>
            <a:r>
              <a:rPr lang="en-US" sz="1300" i="1" dirty="0">
                <a:solidFill>
                  <a:srgbClr val="FFFFFF"/>
                </a:solidFill>
                <a:latin typeface="Calibri" pitchFamily="34" charset="0"/>
                <a:ea typeface="Calibri" pitchFamily="34" charset="-122"/>
                <a:cs typeface="Calibri" pitchFamily="34" charset="-120"/>
              </a:rPr>
              <a:t>Takeaway: always check the full domain after the @ symbol — not just whether the email “looks” like it belongs to a real department.</a:t>
            </a:r>
            <a:endParaRPr lang="en-US" sz="1300" dirty="0"/>
          </a:p>
        </p:txBody>
      </p:sp>
      <p:sp>
        <p:nvSpPr>
          <p:cNvPr id="9" name="Text 6"/>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10" name="Text 7"/>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AF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QUESTION 2 OF 3</a:t>
            </a:r>
            <a:endParaRPr lang="en-US" sz="1300" dirty="0"/>
          </a:p>
        </p:txBody>
      </p:sp>
      <p:sp>
        <p:nvSpPr>
          <p:cNvPr id="3" name="Text 1"/>
          <p:cNvSpPr/>
          <p:nvPr/>
        </p:nvSpPr>
        <p:spPr>
          <a:xfrm>
            <a:off x="594360" y="868680"/>
            <a:ext cx="10881360" cy="1188720"/>
          </a:xfrm>
          <a:prstGeom prst="rect">
            <a:avLst/>
          </a:prstGeom>
          <a:noFill/>
          <a:ln/>
        </p:spPr>
        <p:txBody>
          <a:bodyPr wrap="square" rtlCol="0" anchor="ctr"/>
          <a:lstStyle/>
          <a:p>
            <a:pPr marL="0" indent="0">
              <a:lnSpc>
                <a:spcPct val="115000"/>
              </a:lnSpc>
              <a:buNone/>
            </a:pPr>
            <a:r>
              <a:rPr lang="en-US" sz="2200" b="1" dirty="0">
                <a:solidFill>
                  <a:srgbClr val="0B1F2A"/>
                </a:solidFill>
                <a:latin typeface="Cambria" pitchFamily="34" charset="0"/>
                <a:ea typeface="Cambria" pitchFamily="34" charset="-122"/>
                <a:cs typeface="Cambria" pitchFamily="34" charset="-120"/>
              </a:rPr>
              <a:t>A coworker calls, sounding rushed, and asks you to read out a one-time passcode you just received by text so they can “fix your account.” What should you do?</a:t>
            </a:r>
            <a:endParaRPr lang="en-US" sz="2200" dirty="0"/>
          </a:p>
        </p:txBody>
      </p:sp>
      <p:sp>
        <p:nvSpPr>
          <p:cNvPr id="4" name="Shape 2"/>
          <p:cNvSpPr/>
          <p:nvPr/>
        </p:nvSpPr>
        <p:spPr>
          <a:xfrm>
            <a:off x="640080" y="2468880"/>
            <a:ext cx="10881360" cy="868680"/>
          </a:xfrm>
          <a:prstGeom prst="roundRect">
            <a:avLst>
              <a:gd name="adj" fmla="val 8421"/>
            </a:avLst>
          </a:prstGeom>
          <a:solidFill>
            <a:srgbClr val="FFFFFF"/>
          </a:solidFill>
          <a:ln w="12700">
            <a:solidFill>
              <a:srgbClr val="D7E3E3"/>
            </a:solidFill>
            <a:prstDash val="solid"/>
          </a:ln>
        </p:spPr>
      </p:sp>
      <p:sp>
        <p:nvSpPr>
          <p:cNvPr id="5" name="Shape 3"/>
          <p:cNvSpPr/>
          <p:nvPr/>
        </p:nvSpPr>
        <p:spPr>
          <a:xfrm>
            <a:off x="868680" y="2670048"/>
            <a:ext cx="457200" cy="457200"/>
          </a:xfrm>
          <a:prstGeom prst="ellipse">
            <a:avLst/>
          </a:prstGeom>
          <a:solidFill>
            <a:srgbClr val="028090"/>
          </a:solidFill>
          <a:ln/>
        </p:spPr>
      </p:sp>
      <p:sp>
        <p:nvSpPr>
          <p:cNvPr id="6" name="Text 4"/>
          <p:cNvSpPr/>
          <p:nvPr/>
        </p:nvSpPr>
        <p:spPr>
          <a:xfrm>
            <a:off x="868680" y="2670048"/>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7" name="Text 5"/>
          <p:cNvSpPr/>
          <p:nvPr/>
        </p:nvSpPr>
        <p:spPr>
          <a:xfrm>
            <a:off x="1508760" y="2468880"/>
            <a:ext cx="9784080" cy="868680"/>
          </a:xfrm>
          <a:prstGeom prst="rect">
            <a:avLst/>
          </a:prstGeom>
          <a:noFill/>
          <a:ln/>
        </p:spPr>
        <p:txBody>
          <a:bodyPr wrap="square" rtlCol="0" anchor="ctr"/>
          <a:lstStyle/>
          <a:p>
            <a:pPr marL="0" indent="0">
              <a:buNone/>
            </a:pPr>
            <a:r>
              <a:rPr lang="en-US" sz="1350" dirty="0">
                <a:solidFill>
                  <a:srgbClr val="1B2B2E"/>
                </a:solidFill>
                <a:latin typeface="Calibri" pitchFamily="34" charset="0"/>
                <a:ea typeface="Calibri" pitchFamily="34" charset="-122"/>
                <a:cs typeface="Calibri" pitchFamily="34" charset="-120"/>
              </a:rPr>
              <a:t>Read out the code quickly since they sound stressed and it's faster to just help.</a:t>
            </a:r>
            <a:endParaRPr lang="en-US" sz="1350" dirty="0"/>
          </a:p>
        </p:txBody>
      </p:sp>
      <p:sp>
        <p:nvSpPr>
          <p:cNvPr id="8" name="Shape 6"/>
          <p:cNvSpPr/>
          <p:nvPr/>
        </p:nvSpPr>
        <p:spPr>
          <a:xfrm>
            <a:off x="640080" y="3493008"/>
            <a:ext cx="10881360" cy="868680"/>
          </a:xfrm>
          <a:prstGeom prst="roundRect">
            <a:avLst>
              <a:gd name="adj" fmla="val 8421"/>
            </a:avLst>
          </a:prstGeom>
          <a:solidFill>
            <a:srgbClr val="FFFFFF"/>
          </a:solidFill>
          <a:ln w="12700">
            <a:solidFill>
              <a:srgbClr val="D7E3E3"/>
            </a:solidFill>
            <a:prstDash val="solid"/>
          </a:ln>
        </p:spPr>
      </p:sp>
      <p:sp>
        <p:nvSpPr>
          <p:cNvPr id="9" name="Shape 7"/>
          <p:cNvSpPr/>
          <p:nvPr/>
        </p:nvSpPr>
        <p:spPr>
          <a:xfrm>
            <a:off x="868680" y="3694176"/>
            <a:ext cx="457200" cy="457200"/>
          </a:xfrm>
          <a:prstGeom prst="ellipse">
            <a:avLst/>
          </a:prstGeom>
          <a:solidFill>
            <a:srgbClr val="028090"/>
          </a:solidFill>
          <a:ln/>
        </p:spPr>
      </p:sp>
      <p:sp>
        <p:nvSpPr>
          <p:cNvPr id="10" name="Text 8"/>
          <p:cNvSpPr/>
          <p:nvPr/>
        </p:nvSpPr>
        <p:spPr>
          <a:xfrm>
            <a:off x="868680" y="3694176"/>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1" name="Text 9"/>
          <p:cNvSpPr/>
          <p:nvPr/>
        </p:nvSpPr>
        <p:spPr>
          <a:xfrm>
            <a:off x="1508760" y="3493008"/>
            <a:ext cx="9784080" cy="868680"/>
          </a:xfrm>
          <a:prstGeom prst="rect">
            <a:avLst/>
          </a:prstGeom>
          <a:noFill/>
          <a:ln/>
        </p:spPr>
        <p:txBody>
          <a:bodyPr wrap="square" rtlCol="0" anchor="ctr"/>
          <a:lstStyle/>
          <a:p>
            <a:pPr marL="0" indent="0">
              <a:buNone/>
            </a:pPr>
            <a:r>
              <a:rPr lang="en-US" sz="1350" dirty="0">
                <a:solidFill>
                  <a:srgbClr val="1B2B2E"/>
                </a:solidFill>
                <a:latin typeface="Calibri" pitchFamily="34" charset="0"/>
                <a:ea typeface="Calibri" pitchFamily="34" charset="-122"/>
                <a:cs typeface="Calibri" pitchFamily="34" charset="-120"/>
              </a:rPr>
              <a:t>Text the code to them instead of saying it out loud, since that's more secure.</a:t>
            </a:r>
            <a:endParaRPr lang="en-US" sz="1350" dirty="0"/>
          </a:p>
        </p:txBody>
      </p:sp>
      <p:sp>
        <p:nvSpPr>
          <p:cNvPr id="12" name="Shape 10"/>
          <p:cNvSpPr/>
          <p:nvPr/>
        </p:nvSpPr>
        <p:spPr>
          <a:xfrm>
            <a:off x="640080" y="4517136"/>
            <a:ext cx="10881360" cy="868680"/>
          </a:xfrm>
          <a:prstGeom prst="roundRect">
            <a:avLst>
              <a:gd name="adj" fmla="val 8421"/>
            </a:avLst>
          </a:prstGeom>
          <a:solidFill>
            <a:srgbClr val="FFFFFF"/>
          </a:solidFill>
          <a:ln w="12700">
            <a:solidFill>
              <a:srgbClr val="D7E3E3"/>
            </a:solidFill>
            <a:prstDash val="solid"/>
          </a:ln>
        </p:spPr>
      </p:sp>
      <p:sp>
        <p:nvSpPr>
          <p:cNvPr id="13" name="Shape 11"/>
          <p:cNvSpPr/>
          <p:nvPr/>
        </p:nvSpPr>
        <p:spPr>
          <a:xfrm>
            <a:off x="868680" y="4718304"/>
            <a:ext cx="457200" cy="457200"/>
          </a:xfrm>
          <a:prstGeom prst="ellipse">
            <a:avLst/>
          </a:prstGeom>
          <a:solidFill>
            <a:srgbClr val="028090"/>
          </a:solidFill>
          <a:ln/>
        </p:spPr>
      </p:sp>
      <p:sp>
        <p:nvSpPr>
          <p:cNvPr id="14" name="Text 12"/>
          <p:cNvSpPr/>
          <p:nvPr/>
        </p:nvSpPr>
        <p:spPr>
          <a:xfrm>
            <a:off x="868680" y="4718304"/>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5" name="Text 13"/>
          <p:cNvSpPr/>
          <p:nvPr/>
        </p:nvSpPr>
        <p:spPr>
          <a:xfrm>
            <a:off x="1508760" y="4517136"/>
            <a:ext cx="9784080" cy="868680"/>
          </a:xfrm>
          <a:prstGeom prst="rect">
            <a:avLst/>
          </a:prstGeom>
          <a:noFill/>
          <a:ln/>
        </p:spPr>
        <p:txBody>
          <a:bodyPr wrap="square" rtlCol="0" anchor="ctr"/>
          <a:lstStyle/>
          <a:p>
            <a:pPr marL="0" indent="0">
              <a:buNone/>
            </a:pPr>
            <a:r>
              <a:rPr lang="en-US" sz="1350" dirty="0">
                <a:solidFill>
                  <a:srgbClr val="1B2B2E"/>
                </a:solidFill>
                <a:latin typeface="Calibri" pitchFamily="34" charset="0"/>
                <a:ea typeface="Calibri" pitchFamily="34" charset="-122"/>
                <a:cs typeface="Calibri" pitchFamily="34" charset="-120"/>
              </a:rPr>
              <a:t>Decline, hang up, and verify the request through a separate, known channel.</a:t>
            </a:r>
            <a:endParaRPr lang="en-US" sz="1350" dirty="0"/>
          </a:p>
        </p:txBody>
      </p:sp>
      <p:sp>
        <p:nvSpPr>
          <p:cNvPr id="16" name="Shape 14"/>
          <p:cNvSpPr/>
          <p:nvPr/>
        </p:nvSpPr>
        <p:spPr>
          <a:xfrm>
            <a:off x="640080" y="5541264"/>
            <a:ext cx="10881360" cy="868680"/>
          </a:xfrm>
          <a:prstGeom prst="roundRect">
            <a:avLst>
              <a:gd name="adj" fmla="val 8421"/>
            </a:avLst>
          </a:prstGeom>
          <a:solidFill>
            <a:srgbClr val="FFFFFF"/>
          </a:solidFill>
          <a:ln w="12700">
            <a:solidFill>
              <a:srgbClr val="D7E3E3"/>
            </a:solidFill>
            <a:prstDash val="solid"/>
          </a:ln>
        </p:spPr>
      </p:sp>
      <p:sp>
        <p:nvSpPr>
          <p:cNvPr id="17" name="Shape 15"/>
          <p:cNvSpPr/>
          <p:nvPr/>
        </p:nvSpPr>
        <p:spPr>
          <a:xfrm>
            <a:off x="868680" y="5742432"/>
            <a:ext cx="457200" cy="457200"/>
          </a:xfrm>
          <a:prstGeom prst="ellipse">
            <a:avLst/>
          </a:prstGeom>
          <a:solidFill>
            <a:srgbClr val="028090"/>
          </a:solidFill>
          <a:ln/>
        </p:spPr>
      </p:sp>
      <p:sp>
        <p:nvSpPr>
          <p:cNvPr id="18" name="Text 16"/>
          <p:cNvSpPr/>
          <p:nvPr/>
        </p:nvSpPr>
        <p:spPr>
          <a:xfrm>
            <a:off x="868680" y="574243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19" name="Text 17"/>
          <p:cNvSpPr/>
          <p:nvPr/>
        </p:nvSpPr>
        <p:spPr>
          <a:xfrm>
            <a:off x="1508760" y="5541264"/>
            <a:ext cx="9784080" cy="868680"/>
          </a:xfrm>
          <a:prstGeom prst="rect">
            <a:avLst/>
          </a:prstGeom>
          <a:noFill/>
          <a:ln/>
        </p:spPr>
        <p:txBody>
          <a:bodyPr wrap="square" rtlCol="0" anchor="ctr"/>
          <a:lstStyle/>
          <a:p>
            <a:pPr marL="0" indent="0">
              <a:buNone/>
            </a:pPr>
            <a:r>
              <a:rPr lang="en-US" sz="1350" dirty="0">
                <a:solidFill>
                  <a:srgbClr val="1B2B2E"/>
                </a:solidFill>
                <a:latin typeface="Calibri" pitchFamily="34" charset="0"/>
                <a:ea typeface="Calibri" pitchFamily="34" charset="-122"/>
                <a:cs typeface="Calibri" pitchFamily="34" charset="-120"/>
              </a:rPr>
              <a:t>Ask them to prove who they are by telling you your employee ID.</a:t>
            </a:r>
            <a:endParaRPr lang="en-US" sz="1350" dirty="0"/>
          </a:p>
        </p:txBody>
      </p:sp>
      <p:sp>
        <p:nvSpPr>
          <p:cNvPr id="20" name="Text 18"/>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21" name="Text 19"/>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2A"/>
        </a:solidFill>
        <a:effectLst/>
      </p:bgPr>
    </p:bg>
    <p:spTree>
      <p:nvGrpSpPr>
        <p:cNvPr id="1" name=""/>
        <p:cNvGrpSpPr/>
        <p:nvPr/>
      </p:nvGrpSpPr>
      <p:grpSpPr>
        <a:xfrm>
          <a:off x="0" y="0"/>
          <a:ext cx="0" cy="0"/>
          <a:chOff x="0" y="0"/>
          <a:chExt cx="0" cy="0"/>
        </a:xfrm>
      </p:grpSpPr>
      <p:sp>
        <p:nvSpPr>
          <p:cNvPr id="2" name="Shape 0"/>
          <p:cNvSpPr/>
          <p:nvPr/>
        </p:nvSpPr>
        <p:spPr>
          <a:xfrm>
            <a:off x="640080" y="685800"/>
            <a:ext cx="685800" cy="685800"/>
          </a:xfrm>
          <a:prstGeom prst="ellipse">
            <a:avLst/>
          </a:prstGeom>
          <a:solidFill>
            <a:srgbClr val="02C39A"/>
          </a:solidFill>
          <a:ln/>
        </p:spPr>
      </p:sp>
      <p:pic>
        <p:nvPicPr>
          <p:cNvPr id="3" name="Image 0" descr="/home/claude/phishing/icon_check_navy.png"/>
          <p:cNvPicPr>
            <a:picLocks noChangeAspect="1"/>
          </p:cNvPicPr>
          <p:nvPr/>
        </p:nvPicPr>
        <p:blipFill>
          <a:blip r:embed="rId3"/>
          <a:stretch>
            <a:fillRect/>
          </a:stretch>
        </p:blipFill>
        <p:spPr>
          <a:xfrm>
            <a:off x="777240" y="822960"/>
            <a:ext cx="411480" cy="411480"/>
          </a:xfrm>
          <a:prstGeom prst="rect">
            <a:avLst/>
          </a:prstGeom>
        </p:spPr>
      </p:pic>
      <p:sp>
        <p:nvSpPr>
          <p:cNvPr id="4" name="Text 1"/>
          <p:cNvSpPr/>
          <p:nvPr/>
        </p:nvSpPr>
        <p:spPr>
          <a:xfrm>
            <a:off x="1508760" y="731520"/>
            <a:ext cx="3657600" cy="320040"/>
          </a:xfrm>
          <a:prstGeom prst="rect">
            <a:avLst/>
          </a:prstGeom>
          <a:noFill/>
          <a:ln/>
        </p:spPr>
        <p:txBody>
          <a:bodyPr wrap="square"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ANSWER</a:t>
            </a:r>
            <a:endParaRPr lang="en-US" sz="1300" dirty="0"/>
          </a:p>
        </p:txBody>
      </p:sp>
      <p:sp>
        <p:nvSpPr>
          <p:cNvPr id="5" name="Text 2"/>
          <p:cNvSpPr/>
          <p:nvPr/>
        </p:nvSpPr>
        <p:spPr>
          <a:xfrm>
            <a:off x="1508760" y="1005840"/>
            <a:ext cx="91440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C — decline and verify separately</a:t>
            </a:r>
            <a:endParaRPr lang="en-US" sz="2400" dirty="0"/>
          </a:p>
        </p:txBody>
      </p:sp>
      <p:sp>
        <p:nvSpPr>
          <p:cNvPr id="6" name="Text 3"/>
          <p:cNvSpPr/>
          <p:nvPr/>
        </p:nvSpPr>
        <p:spPr>
          <a:xfrm>
            <a:off x="640080" y="1920240"/>
            <a:ext cx="7955280" cy="1463040"/>
          </a:xfrm>
          <a:prstGeom prst="rect">
            <a:avLst/>
          </a:prstGeom>
          <a:noFill/>
          <a:ln/>
        </p:spPr>
        <p:txBody>
          <a:bodyPr wrap="square" rtlCol="0" anchor="ctr"/>
          <a:lstStyle/>
          <a:p>
            <a:pPr marL="0" indent="0">
              <a:lnSpc>
                <a:spcPct val="140000"/>
              </a:lnSpc>
              <a:buNone/>
            </a:pPr>
            <a:r>
              <a:rPr lang="en-US" sz="1400" dirty="0">
                <a:solidFill>
                  <a:srgbClr val="C7DADD"/>
                </a:solidFill>
                <a:latin typeface="Calibri" pitchFamily="34" charset="0"/>
                <a:ea typeface="Calibri" pitchFamily="34" charset="-122"/>
                <a:cs typeface="Calibri" pitchFamily="34" charset="-120"/>
              </a:rPr>
              <a:t>A one-time passcode exists specifically to prove it's really you logging in — reading it to someone else hands them the keys, whether by voice or by text. No legitimate coworker or IT staffer will ever need you to share that code with them.</a:t>
            </a:r>
            <a:endParaRPr lang="en-US" sz="1400" dirty="0"/>
          </a:p>
        </p:txBody>
      </p:sp>
      <p:sp>
        <p:nvSpPr>
          <p:cNvPr id="7" name="Shape 4"/>
          <p:cNvSpPr/>
          <p:nvPr/>
        </p:nvSpPr>
        <p:spPr>
          <a:xfrm>
            <a:off x="640080" y="3749040"/>
            <a:ext cx="7955280" cy="1463040"/>
          </a:xfrm>
          <a:prstGeom prst="roundRect">
            <a:avLst>
              <a:gd name="adj" fmla="val 6250"/>
            </a:avLst>
          </a:prstGeom>
          <a:solidFill>
            <a:srgbClr val="13303D"/>
          </a:solidFill>
          <a:ln/>
        </p:spPr>
      </p:sp>
      <p:sp>
        <p:nvSpPr>
          <p:cNvPr id="8" name="Text 5"/>
          <p:cNvSpPr/>
          <p:nvPr/>
        </p:nvSpPr>
        <p:spPr>
          <a:xfrm>
            <a:off x="914400" y="3886200"/>
            <a:ext cx="7406640" cy="1188720"/>
          </a:xfrm>
          <a:prstGeom prst="rect">
            <a:avLst/>
          </a:prstGeom>
          <a:noFill/>
          <a:ln/>
        </p:spPr>
        <p:txBody>
          <a:bodyPr wrap="square" rtlCol="0" anchor="ctr"/>
          <a:lstStyle/>
          <a:p>
            <a:pPr marL="0" indent="0">
              <a:lnSpc>
                <a:spcPct val="130000"/>
              </a:lnSpc>
              <a:buNone/>
            </a:pPr>
            <a:r>
              <a:rPr lang="en-US" sz="1300" i="1" dirty="0">
                <a:solidFill>
                  <a:srgbClr val="FFFFFF"/>
                </a:solidFill>
                <a:latin typeface="Calibri" pitchFamily="34" charset="0"/>
                <a:ea typeface="Calibri" pitchFamily="34" charset="-122"/>
                <a:cs typeface="Calibri" pitchFamily="34" charset="-120"/>
              </a:rPr>
              <a:t>Takeaway: treat urgency over the phone the same way you treat urgency in email — hang up and call back on a number you already know and trust, not one they gave you.</a:t>
            </a:r>
            <a:endParaRPr lang="en-US" sz="1300" dirty="0"/>
          </a:p>
        </p:txBody>
      </p:sp>
      <p:sp>
        <p:nvSpPr>
          <p:cNvPr id="9" name="Text 6"/>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10" name="Text 7"/>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AF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2004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QUESTION 3 OF 3</a:t>
            </a:r>
            <a:endParaRPr lang="en-US" sz="1300" dirty="0"/>
          </a:p>
        </p:txBody>
      </p:sp>
      <p:sp>
        <p:nvSpPr>
          <p:cNvPr id="3" name="Text 1"/>
          <p:cNvSpPr/>
          <p:nvPr/>
        </p:nvSpPr>
        <p:spPr>
          <a:xfrm>
            <a:off x="594360" y="868680"/>
            <a:ext cx="10881360" cy="1188720"/>
          </a:xfrm>
          <a:prstGeom prst="rect">
            <a:avLst/>
          </a:prstGeom>
          <a:noFill/>
          <a:ln/>
        </p:spPr>
        <p:txBody>
          <a:bodyPr wrap="square" rtlCol="0" anchor="ctr"/>
          <a:lstStyle/>
          <a:p>
            <a:pPr marL="0" indent="0">
              <a:lnSpc>
                <a:spcPct val="115000"/>
              </a:lnSpc>
              <a:buNone/>
            </a:pPr>
            <a:r>
              <a:rPr lang="en-US" sz="2400" b="1" dirty="0">
                <a:solidFill>
                  <a:srgbClr val="0B1F2A"/>
                </a:solidFill>
                <a:latin typeface="Cambria" pitchFamily="34" charset="0"/>
                <a:ea typeface="Cambria" pitchFamily="34" charset="-122"/>
                <a:cs typeface="Cambria" pitchFamily="34" charset="-120"/>
              </a:rPr>
              <a:t>True or False: A green padlock icon in the browser address bar means a website is safe and legitimate.</a:t>
            </a:r>
            <a:endParaRPr lang="en-US" sz="2400" dirty="0"/>
          </a:p>
        </p:txBody>
      </p:sp>
      <p:sp>
        <p:nvSpPr>
          <p:cNvPr id="4" name="Shape 2"/>
          <p:cNvSpPr/>
          <p:nvPr/>
        </p:nvSpPr>
        <p:spPr>
          <a:xfrm>
            <a:off x="640080" y="2377440"/>
            <a:ext cx="5303520" cy="2926080"/>
          </a:xfrm>
          <a:prstGeom prst="roundRect">
            <a:avLst>
              <a:gd name="adj" fmla="val 3125"/>
            </a:avLst>
          </a:prstGeom>
          <a:solidFill>
            <a:srgbClr val="FFFFFF"/>
          </a:solidFill>
          <a:ln w="12700">
            <a:solidFill>
              <a:srgbClr val="D7E3E3"/>
            </a:solidFill>
            <a:prstDash val="solid"/>
          </a:ln>
        </p:spPr>
      </p:sp>
      <p:sp>
        <p:nvSpPr>
          <p:cNvPr id="5" name="Text 3"/>
          <p:cNvSpPr/>
          <p:nvPr/>
        </p:nvSpPr>
        <p:spPr>
          <a:xfrm>
            <a:off x="640080" y="2651760"/>
            <a:ext cx="5303520" cy="640080"/>
          </a:xfrm>
          <a:prstGeom prst="rect">
            <a:avLst/>
          </a:prstGeom>
          <a:noFill/>
          <a:ln/>
        </p:spPr>
        <p:txBody>
          <a:bodyPr wrap="square" rtlCol="0" anchor="ctr"/>
          <a:lstStyle/>
          <a:p>
            <a:pPr marL="0" indent="0" algn="ctr">
              <a:buNone/>
            </a:pPr>
            <a:r>
              <a:rPr lang="en-US" sz="2600" b="1" dirty="0">
                <a:solidFill>
                  <a:srgbClr val="0B1F2A"/>
                </a:solidFill>
                <a:latin typeface="Cambria" pitchFamily="34" charset="0"/>
                <a:ea typeface="Cambria" pitchFamily="34" charset="-122"/>
                <a:cs typeface="Cambria" pitchFamily="34" charset="-120"/>
              </a:rPr>
              <a:t>TRUE</a:t>
            </a:r>
            <a:endParaRPr lang="en-US" sz="2600" dirty="0"/>
          </a:p>
        </p:txBody>
      </p:sp>
      <p:sp>
        <p:nvSpPr>
          <p:cNvPr id="6" name="Text 4"/>
          <p:cNvSpPr/>
          <p:nvPr/>
        </p:nvSpPr>
        <p:spPr>
          <a:xfrm>
            <a:off x="1097280" y="3383280"/>
            <a:ext cx="4389120" cy="1554480"/>
          </a:xfrm>
          <a:prstGeom prst="rect">
            <a:avLst/>
          </a:prstGeom>
          <a:noFill/>
          <a:ln/>
        </p:spPr>
        <p:txBody>
          <a:bodyPr wrap="square" rtlCol="0" anchor="ctr"/>
          <a:lstStyle/>
          <a:p>
            <a:pPr marL="0" indent="0" algn="ctr">
              <a:lnSpc>
                <a:spcPct val="130000"/>
              </a:lnSpc>
              <a:buNone/>
            </a:pPr>
            <a:r>
              <a:rPr lang="en-US" sz="1300" dirty="0">
                <a:solidFill>
                  <a:srgbClr val="5B6C70"/>
                </a:solidFill>
                <a:latin typeface="Calibri" pitchFamily="34" charset="0"/>
                <a:ea typeface="Calibri" pitchFamily="34" charset="-122"/>
                <a:cs typeface="Calibri" pitchFamily="34" charset="-120"/>
              </a:rPr>
              <a:t>The padlock guarantees this is the real, legitimate website.</a:t>
            </a:r>
            <a:endParaRPr lang="en-US" sz="1300" dirty="0"/>
          </a:p>
        </p:txBody>
      </p:sp>
      <p:sp>
        <p:nvSpPr>
          <p:cNvPr id="7" name="Shape 5"/>
          <p:cNvSpPr/>
          <p:nvPr/>
        </p:nvSpPr>
        <p:spPr>
          <a:xfrm>
            <a:off x="6217920" y="2377440"/>
            <a:ext cx="5303520" cy="2926080"/>
          </a:xfrm>
          <a:prstGeom prst="roundRect">
            <a:avLst>
              <a:gd name="adj" fmla="val 3125"/>
            </a:avLst>
          </a:prstGeom>
          <a:solidFill>
            <a:srgbClr val="FFFFFF"/>
          </a:solidFill>
          <a:ln w="12700">
            <a:solidFill>
              <a:srgbClr val="D7E3E3"/>
            </a:solidFill>
            <a:prstDash val="solid"/>
          </a:ln>
        </p:spPr>
      </p:sp>
      <p:sp>
        <p:nvSpPr>
          <p:cNvPr id="8" name="Text 6"/>
          <p:cNvSpPr/>
          <p:nvPr/>
        </p:nvSpPr>
        <p:spPr>
          <a:xfrm>
            <a:off x="6217920" y="2651760"/>
            <a:ext cx="5303520" cy="640080"/>
          </a:xfrm>
          <a:prstGeom prst="rect">
            <a:avLst/>
          </a:prstGeom>
          <a:noFill/>
          <a:ln/>
        </p:spPr>
        <p:txBody>
          <a:bodyPr wrap="square" rtlCol="0" anchor="ctr"/>
          <a:lstStyle/>
          <a:p>
            <a:pPr marL="0" indent="0" algn="ctr">
              <a:buNone/>
            </a:pPr>
            <a:r>
              <a:rPr lang="en-US" sz="2600" b="1" dirty="0">
                <a:solidFill>
                  <a:srgbClr val="0B1F2A"/>
                </a:solidFill>
                <a:latin typeface="Cambria" pitchFamily="34" charset="0"/>
                <a:ea typeface="Cambria" pitchFamily="34" charset="-122"/>
                <a:cs typeface="Cambria" pitchFamily="34" charset="-120"/>
              </a:rPr>
              <a:t>FALSE</a:t>
            </a:r>
            <a:endParaRPr lang="en-US" sz="2600" dirty="0"/>
          </a:p>
        </p:txBody>
      </p:sp>
      <p:sp>
        <p:nvSpPr>
          <p:cNvPr id="9" name="Text 7"/>
          <p:cNvSpPr/>
          <p:nvPr/>
        </p:nvSpPr>
        <p:spPr>
          <a:xfrm>
            <a:off x="6675120" y="3383280"/>
            <a:ext cx="4389120" cy="1554480"/>
          </a:xfrm>
          <a:prstGeom prst="rect">
            <a:avLst/>
          </a:prstGeom>
          <a:noFill/>
          <a:ln/>
        </p:spPr>
        <p:txBody>
          <a:bodyPr wrap="square" rtlCol="0" anchor="ctr"/>
          <a:lstStyle/>
          <a:p>
            <a:pPr marL="0" indent="0" algn="ctr">
              <a:lnSpc>
                <a:spcPct val="130000"/>
              </a:lnSpc>
              <a:buNone/>
            </a:pPr>
            <a:r>
              <a:rPr lang="en-US" sz="1300" dirty="0">
                <a:solidFill>
                  <a:srgbClr val="5B6C70"/>
                </a:solidFill>
                <a:latin typeface="Calibri" pitchFamily="34" charset="0"/>
                <a:ea typeface="Calibri" pitchFamily="34" charset="-122"/>
                <a:cs typeface="Calibri" pitchFamily="34" charset="-120"/>
              </a:rPr>
              <a:t>The padlock only means the connection is encrypted — it says nothing about who owns the site.</a:t>
            </a:r>
            <a:endParaRPr lang="en-US" sz="1300" dirty="0"/>
          </a:p>
        </p:txBody>
      </p:sp>
      <p:sp>
        <p:nvSpPr>
          <p:cNvPr id="10" name="Text 8"/>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11" name="Text 9"/>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2A"/>
        </a:solidFill>
        <a:effectLst/>
      </p:bgPr>
    </p:bg>
    <p:spTree>
      <p:nvGrpSpPr>
        <p:cNvPr id="1" name=""/>
        <p:cNvGrpSpPr/>
        <p:nvPr/>
      </p:nvGrpSpPr>
      <p:grpSpPr>
        <a:xfrm>
          <a:off x="0" y="0"/>
          <a:ext cx="0" cy="0"/>
          <a:chOff x="0" y="0"/>
          <a:chExt cx="0" cy="0"/>
        </a:xfrm>
      </p:grpSpPr>
      <p:sp>
        <p:nvSpPr>
          <p:cNvPr id="2" name="Shape 0"/>
          <p:cNvSpPr/>
          <p:nvPr/>
        </p:nvSpPr>
        <p:spPr>
          <a:xfrm>
            <a:off x="640080" y="685800"/>
            <a:ext cx="685800" cy="685800"/>
          </a:xfrm>
          <a:prstGeom prst="ellipse">
            <a:avLst/>
          </a:prstGeom>
          <a:solidFill>
            <a:srgbClr val="02C39A"/>
          </a:solidFill>
          <a:ln/>
        </p:spPr>
      </p:sp>
      <p:pic>
        <p:nvPicPr>
          <p:cNvPr id="3" name="Image 0" descr="/home/claude/phishing/icon_check_navy.png"/>
          <p:cNvPicPr>
            <a:picLocks noChangeAspect="1"/>
          </p:cNvPicPr>
          <p:nvPr/>
        </p:nvPicPr>
        <p:blipFill>
          <a:blip r:embed="rId3"/>
          <a:stretch>
            <a:fillRect/>
          </a:stretch>
        </p:blipFill>
        <p:spPr>
          <a:xfrm>
            <a:off x="777240" y="822960"/>
            <a:ext cx="411480" cy="411480"/>
          </a:xfrm>
          <a:prstGeom prst="rect">
            <a:avLst/>
          </a:prstGeom>
        </p:spPr>
      </p:pic>
      <p:sp>
        <p:nvSpPr>
          <p:cNvPr id="4" name="Text 1"/>
          <p:cNvSpPr/>
          <p:nvPr/>
        </p:nvSpPr>
        <p:spPr>
          <a:xfrm>
            <a:off x="1508760" y="731520"/>
            <a:ext cx="3657600" cy="320040"/>
          </a:xfrm>
          <a:prstGeom prst="rect">
            <a:avLst/>
          </a:prstGeom>
          <a:noFill/>
          <a:ln/>
        </p:spPr>
        <p:txBody>
          <a:bodyPr wrap="square"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ANSWER</a:t>
            </a:r>
            <a:endParaRPr lang="en-US" sz="1300" dirty="0"/>
          </a:p>
        </p:txBody>
      </p:sp>
      <p:sp>
        <p:nvSpPr>
          <p:cNvPr id="5" name="Text 2"/>
          <p:cNvSpPr/>
          <p:nvPr/>
        </p:nvSpPr>
        <p:spPr>
          <a:xfrm>
            <a:off x="1508760" y="1005840"/>
            <a:ext cx="91440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False</a:t>
            </a:r>
            <a:endParaRPr lang="en-US" sz="2400" dirty="0"/>
          </a:p>
        </p:txBody>
      </p:sp>
      <p:sp>
        <p:nvSpPr>
          <p:cNvPr id="6" name="Text 3"/>
          <p:cNvSpPr/>
          <p:nvPr/>
        </p:nvSpPr>
        <p:spPr>
          <a:xfrm>
            <a:off x="640080" y="1920240"/>
            <a:ext cx="7955280" cy="1463040"/>
          </a:xfrm>
          <a:prstGeom prst="rect">
            <a:avLst/>
          </a:prstGeom>
          <a:noFill/>
          <a:ln/>
        </p:spPr>
        <p:txBody>
          <a:bodyPr wrap="square" rtlCol="0" anchor="ctr"/>
          <a:lstStyle/>
          <a:p>
            <a:pPr marL="0" indent="0">
              <a:lnSpc>
                <a:spcPct val="140000"/>
              </a:lnSpc>
              <a:buNone/>
            </a:pPr>
            <a:r>
              <a:rPr lang="en-US" sz="1400" dirty="0">
                <a:solidFill>
                  <a:srgbClr val="C7DADD"/>
                </a:solidFill>
                <a:latin typeface="Calibri" pitchFamily="34" charset="0"/>
                <a:ea typeface="Calibri" pitchFamily="34" charset="-122"/>
                <a:cs typeface="Calibri" pitchFamily="34" charset="-120"/>
              </a:rPr>
              <a:t>The padlock only confirms the connection between your browser and the site is encrypted — it says nothing about who owns or controls that site. Anyone, including an attacker, can get a certificate for a look-alike domain and show the exact same padlock.</a:t>
            </a:r>
            <a:endParaRPr lang="en-US" sz="1400" dirty="0"/>
          </a:p>
        </p:txBody>
      </p:sp>
      <p:sp>
        <p:nvSpPr>
          <p:cNvPr id="7" name="Shape 4"/>
          <p:cNvSpPr/>
          <p:nvPr/>
        </p:nvSpPr>
        <p:spPr>
          <a:xfrm>
            <a:off x="640080" y="3749040"/>
            <a:ext cx="7955280" cy="1463040"/>
          </a:xfrm>
          <a:prstGeom prst="roundRect">
            <a:avLst>
              <a:gd name="adj" fmla="val 6250"/>
            </a:avLst>
          </a:prstGeom>
          <a:solidFill>
            <a:srgbClr val="13303D"/>
          </a:solidFill>
          <a:ln/>
        </p:spPr>
      </p:sp>
      <p:sp>
        <p:nvSpPr>
          <p:cNvPr id="8" name="Text 5"/>
          <p:cNvSpPr/>
          <p:nvPr/>
        </p:nvSpPr>
        <p:spPr>
          <a:xfrm>
            <a:off x="914400" y="3886200"/>
            <a:ext cx="7406640" cy="1188720"/>
          </a:xfrm>
          <a:prstGeom prst="rect">
            <a:avLst/>
          </a:prstGeom>
          <a:noFill/>
          <a:ln/>
        </p:spPr>
        <p:txBody>
          <a:bodyPr wrap="square" rtlCol="0" anchor="ctr"/>
          <a:lstStyle/>
          <a:p>
            <a:pPr marL="0" indent="0">
              <a:lnSpc>
                <a:spcPct val="130000"/>
              </a:lnSpc>
              <a:buNone/>
            </a:pPr>
            <a:r>
              <a:rPr lang="en-US" sz="1300" i="1" dirty="0">
                <a:solidFill>
                  <a:srgbClr val="FFFFFF"/>
                </a:solidFill>
                <a:latin typeface="Calibri" pitchFamily="34" charset="0"/>
                <a:ea typeface="Calibri" pitchFamily="34" charset="-122"/>
                <a:cs typeface="Calibri" pitchFamily="34" charset="-120"/>
              </a:rPr>
              <a:t>Takeaway: always read the full domain name itself. The padlock is table stakes, not proof of trust.</a:t>
            </a:r>
            <a:endParaRPr lang="en-US" sz="1300" dirty="0"/>
          </a:p>
        </p:txBody>
      </p:sp>
      <p:sp>
        <p:nvSpPr>
          <p:cNvPr id="9" name="Text 6"/>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10" name="Text 7"/>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2A"/>
        </a:solidFill>
        <a:effectLst/>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13303D"/>
          </a:solidFill>
          <a:ln/>
        </p:spPr>
      </p:sp>
      <p:sp>
        <p:nvSpPr>
          <p:cNvPr id="3" name="Shape 1"/>
          <p:cNvSpPr/>
          <p:nvPr/>
        </p:nvSpPr>
        <p:spPr>
          <a:xfrm>
            <a:off x="640080" y="640080"/>
            <a:ext cx="822960" cy="822960"/>
          </a:xfrm>
          <a:prstGeom prst="ellipse">
            <a:avLst/>
          </a:prstGeom>
          <a:solidFill>
            <a:srgbClr val="028090"/>
          </a:solidFill>
          <a:ln/>
        </p:spPr>
      </p:sp>
      <p:pic>
        <p:nvPicPr>
          <p:cNvPr id="4" name="Image 0" descr="/home/claude/phishing/icon_flag_white.png"/>
          <p:cNvPicPr>
            <a:picLocks noChangeAspect="1"/>
          </p:cNvPicPr>
          <p:nvPr/>
        </p:nvPicPr>
        <p:blipFill>
          <a:blip r:embed="rId3"/>
          <a:stretch>
            <a:fillRect/>
          </a:stretch>
        </p:blipFill>
        <p:spPr>
          <a:xfrm>
            <a:off x="854050" y="854050"/>
            <a:ext cx="395021" cy="395021"/>
          </a:xfrm>
          <a:prstGeom prst="rect">
            <a:avLst/>
          </a:prstGeom>
        </p:spPr>
      </p:pic>
      <p:sp>
        <p:nvSpPr>
          <p:cNvPr id="5" name="Text 2"/>
          <p:cNvSpPr/>
          <p:nvPr/>
        </p:nvSpPr>
        <p:spPr>
          <a:xfrm>
            <a:off x="640080" y="1691640"/>
            <a:ext cx="7315200" cy="365760"/>
          </a:xfrm>
          <a:prstGeom prst="rect">
            <a:avLst/>
          </a:prstGeom>
          <a:noFill/>
          <a:ln/>
        </p:spPr>
        <p:txBody>
          <a:bodyPr wrap="square"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IF SOMETHING FEELS OFF</a:t>
            </a:r>
            <a:endParaRPr lang="en-US" sz="1300" dirty="0"/>
          </a:p>
        </p:txBody>
      </p:sp>
      <p:sp>
        <p:nvSpPr>
          <p:cNvPr id="6" name="Text 3"/>
          <p:cNvSpPr/>
          <p:nvPr/>
        </p:nvSpPr>
        <p:spPr>
          <a:xfrm>
            <a:off x="594360" y="2057400"/>
            <a:ext cx="1005840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Report It — Don't Just Delete It</a:t>
            </a:r>
            <a:endParaRPr lang="en-US" sz="3200" dirty="0"/>
          </a:p>
        </p:txBody>
      </p:sp>
      <p:sp>
        <p:nvSpPr>
          <p:cNvPr id="7" name="Shape 4"/>
          <p:cNvSpPr/>
          <p:nvPr/>
        </p:nvSpPr>
        <p:spPr>
          <a:xfrm>
            <a:off x="640080" y="3291840"/>
            <a:ext cx="548640" cy="548640"/>
          </a:xfrm>
          <a:prstGeom prst="ellipse">
            <a:avLst/>
          </a:prstGeom>
          <a:solidFill>
            <a:srgbClr val="00A896"/>
          </a:solidFill>
          <a:ln/>
        </p:spPr>
      </p:sp>
      <p:pic>
        <p:nvPicPr>
          <p:cNvPr id="8" name="Image 1" descr="/home/claude/phishing/icon_eyeOff_navy.png"/>
          <p:cNvPicPr>
            <a:picLocks noChangeAspect="1"/>
          </p:cNvPicPr>
          <p:nvPr/>
        </p:nvPicPr>
        <p:blipFill>
          <a:blip r:embed="rId4"/>
          <a:stretch>
            <a:fillRect/>
          </a:stretch>
        </p:blipFill>
        <p:spPr>
          <a:xfrm>
            <a:off x="758952" y="3410712"/>
            <a:ext cx="310896" cy="310896"/>
          </a:xfrm>
          <a:prstGeom prst="rect">
            <a:avLst/>
          </a:prstGeom>
        </p:spPr>
      </p:pic>
      <p:sp>
        <p:nvSpPr>
          <p:cNvPr id="9" name="Text 5"/>
          <p:cNvSpPr/>
          <p:nvPr/>
        </p:nvSpPr>
        <p:spPr>
          <a:xfrm>
            <a:off x="640080" y="3977640"/>
            <a:ext cx="3566160" cy="5486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Don't click, reply, or forward</a:t>
            </a:r>
            <a:endParaRPr lang="en-US" sz="1350" dirty="0"/>
          </a:p>
        </p:txBody>
      </p:sp>
      <p:sp>
        <p:nvSpPr>
          <p:cNvPr id="10" name="Text 6"/>
          <p:cNvSpPr/>
          <p:nvPr/>
        </p:nvSpPr>
        <p:spPr>
          <a:xfrm>
            <a:off x="640080" y="4434840"/>
            <a:ext cx="3566160" cy="822960"/>
          </a:xfrm>
          <a:prstGeom prst="rect">
            <a:avLst/>
          </a:prstGeom>
          <a:noFill/>
          <a:ln/>
        </p:spPr>
        <p:txBody>
          <a:bodyPr wrap="square" rtlCol="0" anchor="ctr"/>
          <a:lstStyle/>
          <a:p>
            <a:pPr marL="0" indent="0">
              <a:lnSpc>
                <a:spcPct val="125000"/>
              </a:lnSpc>
              <a:buNone/>
            </a:pPr>
            <a:r>
              <a:rPr lang="en-US" sz="1100" dirty="0">
                <a:solidFill>
                  <a:srgbClr val="AFC6CC"/>
                </a:solidFill>
                <a:latin typeface="Calibri" pitchFamily="34" charset="0"/>
                <a:ea typeface="Calibri" pitchFamily="34" charset="-122"/>
                <a:cs typeface="Calibri" pitchFamily="34" charset="-120"/>
              </a:rPr>
              <a:t>Don't interact with links, attachments, or the sender.</a:t>
            </a:r>
            <a:endParaRPr lang="en-US" sz="1100" dirty="0"/>
          </a:p>
        </p:txBody>
      </p:sp>
      <p:sp>
        <p:nvSpPr>
          <p:cNvPr id="11" name="Shape 7"/>
          <p:cNvSpPr/>
          <p:nvPr/>
        </p:nvSpPr>
        <p:spPr>
          <a:xfrm>
            <a:off x="4434840" y="3291840"/>
            <a:ext cx="548640" cy="548640"/>
          </a:xfrm>
          <a:prstGeom prst="ellipse">
            <a:avLst/>
          </a:prstGeom>
          <a:solidFill>
            <a:srgbClr val="00A896"/>
          </a:solidFill>
          <a:ln/>
        </p:spPr>
      </p:sp>
      <p:pic>
        <p:nvPicPr>
          <p:cNvPr id="12" name="Image 2" descr="/home/claude/phishing/icon_flag_navy.png"/>
          <p:cNvPicPr>
            <a:picLocks noChangeAspect="1"/>
          </p:cNvPicPr>
          <p:nvPr/>
        </p:nvPicPr>
        <p:blipFill>
          <a:blip r:embed="rId3"/>
          <a:stretch>
            <a:fillRect/>
          </a:stretch>
        </p:blipFill>
        <p:spPr>
          <a:xfrm>
            <a:off x="4553712" y="3410712"/>
            <a:ext cx="310896" cy="310896"/>
          </a:xfrm>
          <a:prstGeom prst="rect">
            <a:avLst/>
          </a:prstGeom>
        </p:spPr>
      </p:pic>
      <p:sp>
        <p:nvSpPr>
          <p:cNvPr id="13" name="Text 8"/>
          <p:cNvSpPr/>
          <p:nvPr/>
        </p:nvSpPr>
        <p:spPr>
          <a:xfrm>
            <a:off x="4434840" y="3977640"/>
            <a:ext cx="3566160" cy="5486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Report through official channels</a:t>
            </a:r>
            <a:endParaRPr lang="en-US" sz="1350" dirty="0"/>
          </a:p>
        </p:txBody>
      </p:sp>
      <p:sp>
        <p:nvSpPr>
          <p:cNvPr id="14" name="Text 9"/>
          <p:cNvSpPr/>
          <p:nvPr/>
        </p:nvSpPr>
        <p:spPr>
          <a:xfrm>
            <a:off x="4434840" y="4434840"/>
            <a:ext cx="3566160" cy="822960"/>
          </a:xfrm>
          <a:prstGeom prst="rect">
            <a:avLst/>
          </a:prstGeom>
          <a:noFill/>
          <a:ln/>
        </p:spPr>
        <p:txBody>
          <a:bodyPr wrap="square" rtlCol="0" anchor="ctr"/>
          <a:lstStyle/>
          <a:p>
            <a:pPr marL="0" indent="0">
              <a:lnSpc>
                <a:spcPct val="125000"/>
              </a:lnSpc>
              <a:buNone/>
            </a:pPr>
            <a:r>
              <a:rPr lang="en-US" sz="1100" dirty="0">
                <a:solidFill>
                  <a:srgbClr val="AFC6CC"/>
                </a:solidFill>
                <a:latin typeface="Calibri" pitchFamily="34" charset="0"/>
                <a:ea typeface="Calibri" pitchFamily="34" charset="-122"/>
                <a:cs typeface="Calibri" pitchFamily="34" charset="-120"/>
              </a:rPr>
              <a:t>Use your organization's phishing-report button or IT security contact.</a:t>
            </a:r>
            <a:endParaRPr lang="en-US" sz="1100" dirty="0"/>
          </a:p>
        </p:txBody>
      </p:sp>
      <p:sp>
        <p:nvSpPr>
          <p:cNvPr id="15" name="Shape 10"/>
          <p:cNvSpPr/>
          <p:nvPr/>
        </p:nvSpPr>
        <p:spPr>
          <a:xfrm>
            <a:off x="8229600" y="3291840"/>
            <a:ext cx="548640" cy="548640"/>
          </a:xfrm>
          <a:prstGeom prst="ellipse">
            <a:avLst/>
          </a:prstGeom>
          <a:solidFill>
            <a:srgbClr val="00A896"/>
          </a:solidFill>
          <a:ln/>
        </p:spPr>
      </p:sp>
      <p:pic>
        <p:nvPicPr>
          <p:cNvPr id="16" name="Image 3" descr="/home/claude/phishing/icon_shield_navy.png"/>
          <p:cNvPicPr>
            <a:picLocks noChangeAspect="1"/>
          </p:cNvPicPr>
          <p:nvPr/>
        </p:nvPicPr>
        <p:blipFill>
          <a:blip r:embed="rId5"/>
          <a:stretch>
            <a:fillRect/>
          </a:stretch>
        </p:blipFill>
        <p:spPr>
          <a:xfrm>
            <a:off x="8348472" y="3410712"/>
            <a:ext cx="310896" cy="310896"/>
          </a:xfrm>
          <a:prstGeom prst="rect">
            <a:avLst/>
          </a:prstGeom>
        </p:spPr>
      </p:pic>
      <p:sp>
        <p:nvSpPr>
          <p:cNvPr id="17" name="Text 11"/>
          <p:cNvSpPr/>
          <p:nvPr/>
        </p:nvSpPr>
        <p:spPr>
          <a:xfrm>
            <a:off x="8229600" y="3977640"/>
            <a:ext cx="3566160" cy="5486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Warn others if it's targeted</a:t>
            </a:r>
            <a:endParaRPr lang="en-US" sz="1350" dirty="0"/>
          </a:p>
        </p:txBody>
      </p:sp>
      <p:sp>
        <p:nvSpPr>
          <p:cNvPr id="18" name="Text 12"/>
          <p:cNvSpPr/>
          <p:nvPr/>
        </p:nvSpPr>
        <p:spPr>
          <a:xfrm>
            <a:off x="8229600" y="4434840"/>
            <a:ext cx="3566160" cy="822960"/>
          </a:xfrm>
          <a:prstGeom prst="rect">
            <a:avLst/>
          </a:prstGeom>
          <a:noFill/>
          <a:ln/>
        </p:spPr>
        <p:txBody>
          <a:bodyPr wrap="square" rtlCol="0" anchor="ctr"/>
          <a:lstStyle/>
          <a:p>
            <a:pPr marL="0" indent="0">
              <a:lnSpc>
                <a:spcPct val="125000"/>
              </a:lnSpc>
              <a:buNone/>
            </a:pPr>
            <a:r>
              <a:rPr lang="en-US" sz="1100" dirty="0">
                <a:solidFill>
                  <a:srgbClr val="AFC6CC"/>
                </a:solidFill>
                <a:latin typeface="Calibri" pitchFamily="34" charset="0"/>
                <a:ea typeface="Calibri" pitchFamily="34" charset="-122"/>
                <a:cs typeface="Calibri" pitchFamily="34" charset="-120"/>
              </a:rPr>
              <a:t>If coworkers may have received the same message, give your security team a heads-up.</a:t>
            </a:r>
            <a:endParaRPr lang="en-US" sz="1100" dirty="0"/>
          </a:p>
        </p:txBody>
      </p:sp>
      <p:sp>
        <p:nvSpPr>
          <p:cNvPr id="19" name="Shape 13"/>
          <p:cNvSpPr/>
          <p:nvPr/>
        </p:nvSpPr>
        <p:spPr>
          <a:xfrm>
            <a:off x="640080" y="5806440"/>
            <a:ext cx="1280160" cy="0"/>
          </a:xfrm>
          <a:prstGeom prst="line">
            <a:avLst/>
          </a:prstGeom>
          <a:noFill/>
          <a:ln w="25400">
            <a:solidFill>
              <a:srgbClr val="02C39A"/>
            </a:solidFill>
            <a:prstDash val="solid"/>
          </a:ln>
        </p:spPr>
      </p:sp>
      <p:sp>
        <p:nvSpPr>
          <p:cNvPr id="20" name="Text 14"/>
          <p:cNvSpPr/>
          <p:nvPr/>
        </p:nvSpPr>
        <p:spPr>
          <a:xfrm>
            <a:off x="640080" y="5943600"/>
            <a:ext cx="10058400" cy="457200"/>
          </a:xfrm>
          <a:prstGeom prst="rect">
            <a:avLst/>
          </a:prstGeom>
          <a:noFill/>
          <a:ln/>
        </p:spPr>
        <p:txBody>
          <a:bodyPr wrap="square" rtlCol="0" anchor="ctr"/>
          <a:lstStyle/>
          <a:p>
            <a:pPr marL="0" indent="0">
              <a:buNone/>
            </a:pPr>
            <a:r>
              <a:rPr lang="en-US" sz="1300" i="1" dirty="0">
                <a:solidFill>
                  <a:srgbClr val="C7DADD"/>
                </a:solidFill>
                <a:latin typeface="Calibri" pitchFamily="34" charset="0"/>
                <a:ea typeface="Calibri" pitchFamily="34" charset="-122"/>
                <a:cs typeface="Calibri" pitchFamily="34" charset="-120"/>
              </a:rPr>
              <a:t>Remember: no legitimate request will ever punish you for slowing down to double-check it.</a:t>
            </a:r>
            <a:endParaRPr lang="en-US" sz="1300" dirty="0"/>
          </a:p>
        </p:txBody>
      </p:sp>
      <p:sp>
        <p:nvSpPr>
          <p:cNvPr id="21" name="Text 15"/>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8AA0A6"/>
                </a:solidFill>
                <a:latin typeface="Calibri" pitchFamily="34" charset="0"/>
                <a:ea typeface="Calibri" pitchFamily="34" charset="-122"/>
                <a:cs typeface="Calibri" pitchFamily="34" charset="-120"/>
              </a:rPr>
              <a:t>Phishing Awareness Training</a:t>
            </a:r>
            <a:endParaRPr lang="en-US" sz="1000" dirty="0"/>
          </a:p>
        </p:txBody>
      </p:sp>
      <p:sp>
        <p:nvSpPr>
          <p:cNvPr id="22" name="Text 16"/>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8AA0A6"/>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1988</Words>
  <Application>Microsoft Office PowerPoint</Application>
  <PresentationFormat>Widescreen</PresentationFormat>
  <Paragraphs>257</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2</cp:revision>
  <dcterms:created xsi:type="dcterms:W3CDTF">2026-07-25T15:51:08Z</dcterms:created>
  <dcterms:modified xsi:type="dcterms:W3CDTF">2026-07-25T15:55:13Z</dcterms:modified>
</cp:coreProperties>
</file>